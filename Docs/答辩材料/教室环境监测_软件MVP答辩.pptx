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00460b3d0d4344" /><Relationship Type="http://schemas.openxmlformats.org/officeDocument/2006/relationships/extended-properties" Target="/docProps/app.xml" Id="Rf4f95407931b4157" /><Relationship Type="http://schemas.openxmlformats.org/officeDocument/2006/relationships/officeDocument" Target="/ppt/presentation.xml" Id="R95e00996d3c24c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a61b5680fc4e97"/>
  </p:sldMasterIdLst>
  <p:notesMasterIdLst>
    <p:notesMasterId xmlns:r="http://schemas.openxmlformats.org/officeDocument/2006/relationships" r:id="R9644d0f4a9b649d5"/>
  </p:notesMasterIdLst>
  <p:sldIdLst>
    <p:sldId xmlns:r="http://schemas.openxmlformats.org/officeDocument/2006/relationships" id="256" r:id="R5fcdcd33f6dd43de"/>
    <p:sldId xmlns:r="http://schemas.openxmlformats.org/officeDocument/2006/relationships" id="257" r:id="Read49b57dff0408b"/>
    <p:sldId xmlns:r="http://schemas.openxmlformats.org/officeDocument/2006/relationships" id="258" r:id="Rf87265fb601e4474"/>
    <p:sldId xmlns:r="http://schemas.openxmlformats.org/officeDocument/2006/relationships" id="259" r:id="Rbaa3693d770f40b6"/>
    <p:sldId xmlns:r="http://schemas.openxmlformats.org/officeDocument/2006/relationships" id="260" r:id="R72f0f5ff6613466a"/>
    <p:sldId xmlns:r="http://schemas.openxmlformats.org/officeDocument/2006/relationships" id="261" r:id="Rda0030fb03644277"/>
    <p:sldId xmlns:r="http://schemas.openxmlformats.org/officeDocument/2006/relationships" id="262" r:id="R0e56d299b32140e8"/>
    <p:sldId xmlns:r="http://schemas.openxmlformats.org/officeDocument/2006/relationships" id="263" r:id="R06734c8fe0094d7c"/>
    <p:sldId xmlns:r="http://schemas.openxmlformats.org/officeDocument/2006/relationships" id="264" r:id="Rc5ba36b2e5644c50"/>
    <p:sldId xmlns:r="http://schemas.openxmlformats.org/officeDocument/2006/relationships" id="265" r:id="R6e20f0190ba14132"/>
    <p:sldId xmlns:r="http://schemas.openxmlformats.org/officeDocument/2006/relationships" id="266" r:id="R734ac13331164185"/>
    <p:sldId xmlns:r="http://schemas.openxmlformats.org/officeDocument/2006/relationships" id="267" r:id="R2925ac553e50456a"/>
    <p:sldId xmlns:r="http://schemas.openxmlformats.org/officeDocument/2006/relationships" id="268" r:id="Re3d1a47a2c1c401e"/>
    <p:sldId xmlns:r="http://schemas.openxmlformats.org/officeDocument/2006/relationships" id="269" r:id="R478c5fef1c9147e3"/>
    <p:sldId xmlns:r="http://schemas.openxmlformats.org/officeDocument/2006/relationships" id="270" r:id="R3d4574b2be1940a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2ddaf2fed4416d" /><Relationship Type="http://schemas.openxmlformats.org/officeDocument/2006/relationships/slideMaster" Target="/ppt/slideMasters/slideMaster1.xml" Id="Rf2a61b5680fc4e97" /><Relationship Type="http://schemas.openxmlformats.org/officeDocument/2006/relationships/notesMaster" Target="/ppt/notesMasters/notesMaster1.xml" Id="R9644d0f4a9b649d5" /><Relationship Type="http://schemas.openxmlformats.org/officeDocument/2006/relationships/presProps" Target="/ppt/presProps.xml" Id="Rda97408a5cd34eb3" /><Relationship Type="http://schemas.openxmlformats.org/officeDocument/2006/relationships/tableStyles" Target="/ppt/tableStyles.xml" Id="R40e62287d57d4b7f" /><Relationship Type="http://schemas.openxmlformats.org/officeDocument/2006/relationships/slide" Target="/ppt/slides/slide1.xml" Id="R5fcdcd33f6dd43de" /><Relationship Type="http://schemas.openxmlformats.org/officeDocument/2006/relationships/slide" Target="/ppt/slides/slide2.xml" Id="Read49b57dff0408b" /><Relationship Type="http://schemas.openxmlformats.org/officeDocument/2006/relationships/slide" Target="/ppt/slides/slide3.xml" Id="Rf87265fb601e4474" /><Relationship Type="http://schemas.openxmlformats.org/officeDocument/2006/relationships/slide" Target="/ppt/slides/slide4.xml" Id="Rbaa3693d770f40b6" /><Relationship Type="http://schemas.openxmlformats.org/officeDocument/2006/relationships/slide" Target="/ppt/slides/slide5.xml" Id="R72f0f5ff6613466a" /><Relationship Type="http://schemas.openxmlformats.org/officeDocument/2006/relationships/slide" Target="/ppt/slides/slide6.xml" Id="Rda0030fb03644277" /><Relationship Type="http://schemas.openxmlformats.org/officeDocument/2006/relationships/slide" Target="/ppt/slides/slide7.xml" Id="R0e56d299b32140e8" /><Relationship Type="http://schemas.openxmlformats.org/officeDocument/2006/relationships/slide" Target="/ppt/slides/slide8.xml" Id="R06734c8fe0094d7c" /><Relationship Type="http://schemas.openxmlformats.org/officeDocument/2006/relationships/slide" Target="/ppt/slides/slide9.xml" Id="Rc5ba36b2e5644c50" /><Relationship Type="http://schemas.openxmlformats.org/officeDocument/2006/relationships/slide" Target="/ppt/slides/slide10.xml" Id="R6e20f0190ba14132" /><Relationship Type="http://schemas.openxmlformats.org/officeDocument/2006/relationships/slide" Target="/ppt/slides/slide11.xml" Id="R734ac13331164185" /><Relationship Type="http://schemas.openxmlformats.org/officeDocument/2006/relationships/slide" Target="/ppt/slides/slide12.xml" Id="R2925ac553e50456a" /><Relationship Type="http://schemas.openxmlformats.org/officeDocument/2006/relationships/slide" Target="/ppt/slides/slide13.xml" Id="Re3d1a47a2c1c401e" /><Relationship Type="http://schemas.openxmlformats.org/officeDocument/2006/relationships/slide" Target="/ppt/slides/slide14.xml" Id="R478c5fef1c9147e3" /><Relationship Type="http://schemas.openxmlformats.org/officeDocument/2006/relationships/slide" Target="/ppt/slides/slide15.xml" Id="R3d4574b2be1940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23774c99fe40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7ec06aa9324772" /><Relationship Type="http://schemas.openxmlformats.org/officeDocument/2006/relationships/notesMaster" Target="/ppt/notesMasters/notesMaster1.xml" Id="Raf129bb3c7494e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3951a5d83c4a5f" /><Relationship Type="http://schemas.openxmlformats.org/officeDocument/2006/relationships/notesMaster" Target="/ppt/notesMasters/notesMaster1.xml" Id="R4c7bb8800eac43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4a37ca84014fdd" /><Relationship Type="http://schemas.openxmlformats.org/officeDocument/2006/relationships/notesMaster" Target="/ppt/notesMasters/notesMaster1.xml" Id="R8d4cd33a71aa47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b5855d4549463c" /><Relationship Type="http://schemas.openxmlformats.org/officeDocument/2006/relationships/notesMaster" Target="/ppt/notesMasters/notesMaster1.xml" Id="Rb816f5c51c6146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c45b964d264d90" /><Relationship Type="http://schemas.openxmlformats.org/officeDocument/2006/relationships/notesMaster" Target="/ppt/notesMasters/notesMaster1.xml" Id="Rc6cf0ce03a6b47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fcb7581c2e4066" /><Relationship Type="http://schemas.openxmlformats.org/officeDocument/2006/relationships/notesMaster" Target="/ppt/notesMasters/notesMaster1.xml" Id="R93697ecad76f4a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68e9dc7ca747eb" /><Relationship Type="http://schemas.openxmlformats.org/officeDocument/2006/relationships/notesMaster" Target="/ppt/notesMasters/notesMaster1.xml" Id="R728ff2819f9d4f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0bd7029cf74eda" /><Relationship Type="http://schemas.openxmlformats.org/officeDocument/2006/relationships/notesMaster" Target="/ppt/notesMasters/notesMaster1.xml" Id="R8b6edb6d3b2449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d704ed07bf4d75" /><Relationship Type="http://schemas.openxmlformats.org/officeDocument/2006/relationships/notesMaster" Target="/ppt/notesMasters/notesMaster1.xml" Id="R09c7f7c336ef49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df39a2e7394102" /><Relationship Type="http://schemas.openxmlformats.org/officeDocument/2006/relationships/notesMaster" Target="/ppt/notesMasters/notesMaster1.xml" Id="Rc8bda799548949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8ff876c02b4d50" /><Relationship Type="http://schemas.openxmlformats.org/officeDocument/2006/relationships/notesMaster" Target="/ppt/notesMasters/notesMaster1.xml" Id="Rf882b8a2a6b94c9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b73cc984a440de" /><Relationship Type="http://schemas.openxmlformats.org/officeDocument/2006/relationships/notesMaster" Target="/ppt/notesMasters/notesMaster1.xml" Id="R248b65131a6b496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1db5bd1786476d" /><Relationship Type="http://schemas.openxmlformats.org/officeDocument/2006/relationships/notesMaster" Target="/ppt/notesMasters/notesMaster1.xml" Id="R39dbc3ffe64d49e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4642a6494d4ed7" /><Relationship Type="http://schemas.openxmlformats.org/officeDocument/2006/relationships/notesMaster" Target="/ppt/notesMasters/notesMaster1.xml" Id="R1a788c283efe4a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de0c827563d4440" /><Relationship Type="http://schemas.openxmlformats.org/officeDocument/2006/relationships/notesMaster" Target="/ppt/notesMasters/notesMaster1.xml" Id="R361cd8feabd541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</a:t>
            </a:r>
          </a:p>
          <a:p xmlns:a="http://schemas.openxmlformats.org/drawingml/2006/main">
            <a:r>
              <a:t>建议讲述时长：20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各位老师好，本次汇报的题目是《教室环境质量监测节点设计与实现》。当前完成的是软件 MVP 阶段：使用虚拟节点代替传感器，验证从采样上传到数据保存、网页展示及异常恢复的完整链路。接下来介绍系统需求、关键实现、测试结果以及硬件接入计划。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原始任务书与开题报告</a:t>
            </a:r>
          </a:p>
          <a:p xmlns:a="http://schemas.openxmlformats.org/drawingml/2006/main">
            <a:r>
              <a:t>Docs/技术决策记录.md</a:t>
            </a:r>
          </a:p>
          <a:p xmlns:a="http://schemas.openxmlformats.org/drawingml/2006/main">
            <a:r>
              <a:t>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监测需求与本次成果</a:t>
            </a:r>
          </a:p>
          <a:p xmlns:a="http://schemas.openxmlformats.org/drawingml/2006/main">
            <a:r>
              <a:t>建议讲述时长：40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系统围绕教室的五项环境指标建立数据闭环。首阶段采用一个教室、一个虚拟节点，每两秒产生一条数据，先验证上传、存储、历史查询与报警是否可靠。粉尘字段采用 GP2Y1010 的浓度估算口径，当前没有经过传感器标定，也不把它作为 PM2.5 测量结果。真实硬件接入尚未完成。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Projects/simulator/src/generator.js</a:t>
            </a:r>
          </a:p>
          <a:p xmlns:a="http://schemas.openxmlformats.org/drawingml/2006/main">
            <a:r>
              <a:t>Docs/技术决策记录.md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系统架构与职责</a:t>
            </a:r>
          </a:p>
          <a:p xmlns:a="http://schemas.openxmlformats.org/drawingml/2006/main">
            <a:r>
              <a:t>建议讲述时长：45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三个项目分别负责数据产生、处理保存和展示。节点通过 MQTT 发送 JSON，后端在同一进程内运行 Aedes Broker 与 Express API，使用 SQLite 保存数据。前端用 REST 获取快照、历史和阈值，用 SSE 接收实时变化。选择本机架构便于离线演示与定位问题。根启动器只有在健康检查、代理和入库确认都通过后才报告成功。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Projects/server/package.json</a:t>
            </a:r>
          </a:p>
          <a:p xmlns:a="http://schemas.openxmlformats.org/drawingml/2006/main">
            <a:r>
              <a:t>Projects/simulator/package.json</a:t>
            </a:r>
          </a:p>
          <a:p xmlns:a="http://schemas.openxmlformats.org/drawingml/2006/main">
            <a:r>
              <a:t>Projects/web/package.json</a:t>
            </a:r>
          </a:p>
          <a:p xmlns:a="http://schemas.openxmlformats.org/drawingml/2006/main">
            <a:r>
              <a:t>scripts/start.mjs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统一数据协议</a:t>
            </a:r>
          </a:p>
          <a:p xmlns:a="http://schemas.openxmlformats.org/drawingml/2006/main">
            <a:r>
              <a:t>建议讲述时长：45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协议让虚拟节点和未来硬件可以接入同一套后端。设备、启动批次和序号共同构成消息身份，采样时间与服务器接收时间分开。补传时保留原始时间和原文，避免把旧数据误认为刚刚采集。五项指标使用固定字段与单位，缺测用 null，服务端通过 Schema 拒绝格式异常的数据。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Docs/contracts/telemetry.schema.json</a:t>
            </a:r>
          </a:p>
          <a:p xmlns:a="http://schemas.openxmlformats.org/drawingml/2006/main">
            <a:r>
              <a:t>Docs/contracts/telemetry.example.json</a:t>
            </a:r>
          </a:p>
          <a:p xmlns:a="http://schemas.openxmlformats.org/drawingml/2006/main">
            <a:r>
              <a:t>Projects/server/src/validation.js</a:t>
            </a:r>
          </a:p>
          <a:p xmlns:a="http://schemas.openxmlformats.org/drawingml/2006/main">
            <a:r>
              <a:t>Projects/server/src/db.js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可靠上传与断线补传</a:t>
            </a:r>
          </a:p>
          <a:p xmlns:a="http://schemas.openxmlformats.org/drawingml/2006/main">
            <a:r>
              <a:t>建议讲述时长：65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可靠性是项目的关键实现。节点先写入本地 outbox，再尝试发送。MQTT 的确认只能说明协议层交付，不能直接代表数据库已经提交，因此服务端另发应用 ACK。节点只在收到 stored 或 duplicate 后删除对应记录。如果数据库已经提交但 ACK 丢失，节点会原文重发，后端通过唯一键与内容校验确认重复，避免多存一条。这里实现的是重试与幂等写入组合。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Projects/simulator/src/node.js</a:t>
            </a:r>
          </a:p>
          <a:p xmlns:a="http://schemas.openxmlformats.org/drawingml/2006/main">
            <a:r>
              <a:t>Projects/simulator/src/outbox.js</a:t>
            </a:r>
          </a:p>
          <a:p xmlns:a="http://schemas.openxmlformats.org/drawingml/2006/main">
            <a:r>
              <a:t>Projects/server/src/service.js</a:t>
            </a:r>
          </a:p>
          <a:p xmlns:a="http://schemas.openxmlformats.org/drawingml/2006/main">
            <a:r>
              <a:t>Projects/server/src/db.js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报警判断与迟滞恢复</a:t>
            </a:r>
          </a:p>
          <a:p xmlns:a="http://schemas.openxmlformats.org/drawingml/2006/main">
            <a:r>
              <a:t>建议讲述时长：50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以二氧化碳为例，超过一千 ppm 连续三次触发。触发以后，只有读数降到九百 ppm 或更低，并连续满足三次，才清除报警。连续计数和迟滞减少阈值附近的反复变化。缺测不当作正常，过期补传也不影响当前报警。阈值配置会保存到数据库，但报警状态和计数保存在内存，服务重启后按新样本重新判断。以上数值均为工程演示设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Projects/server/src/config.js</a:t>
            </a:r>
          </a:p>
          <a:p xmlns:a="http://schemas.openxmlformats.org/drawingml/2006/main">
            <a:r>
              <a:t>Projects/server/src/alarms.js</a:t>
            </a:r>
          </a:p>
          <a:p xmlns:a="http://schemas.openxmlformats.org/drawingml/2006/main">
            <a:r>
              <a:t>Docs/三端联调验收记录.md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实时看板与当前报警</a:t>
            </a:r>
          </a:p>
          <a:p xmlns:a="http://schemas.openxmlformats.org/drawingml/2006/main">
            <a:r>
              <a:t>建议讲述时长：40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这是整体联调时截取的真实网页，数据来自独立运行的虚拟节点，没有替换 API 响应。页面清楚标出模拟来源，显示温度、湿度、二氧化碳、粉尘估算值和光照。截图中二氧化碳与粉尘处于超限场景。验收逐项对比了网页读数与服务端 latest，并按页面显示精度核对。截图证明软件链路和页面状态，不代表真实教室测量。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tmp/integration/run-cL5fJw/desktop-alarm.png</a:t>
            </a:r>
          </a:p>
          <a:p xmlns:a="http://schemas.openxmlformats.org/drawingml/2006/main">
            <a:r>
              <a:t>scripts/verify-system.mjs</a:t>
            </a:r>
          </a:p>
          <a:p xmlns:a="http://schemas.openxmlformats.org/drawingml/2006/main">
            <a:r>
              <a:t>Docs/三端联调验收记录.md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历史查询与时间口径</a:t>
            </a:r>
          </a:p>
          <a:p xmlns:a="http://schemas.openxmlformats.org/drawingml/2006/main">
            <a:r>
              <a:t>建议讲述时长：45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历史查询支持选择指标和时间范围。后端用 SQL 将样本聚合为时间桶，并返回均值与有效样本数，网页展示各桶曲线。验收脚本按样本数加权核对各桶结果与原始样本均值，避免直接平均桶均值。图上缺测保留为空，避免制造不存在的连续数据。这里的截图只包含短时验收样本，还没有真实教室的长期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tmp/integration/run-cL5fJw/desktop-history.png</a:t>
            </a:r>
          </a:p>
          <a:p xmlns:a="http://schemas.openxmlformats.org/drawingml/2006/main">
            <a:r>
              <a:t>Projects/server/src/db.js</a:t>
            </a:r>
          </a:p>
          <a:p xmlns:a="http://schemas.openxmlformats.org/drawingml/2006/main">
            <a:r>
              <a:t>Projects/web/src/components/HistoryView.jsx</a:t>
            </a:r>
          </a:p>
          <a:p xmlns:a="http://schemas.openxmlformats.org/drawingml/2006/main">
            <a:r>
              <a:t>scripts/verify-system.mjs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故障恢复与数据新鲜度</a:t>
            </a:r>
          </a:p>
          <a:p xmlns:a="http://schemas.openxmlformats.org/drawingml/2006/main">
            <a:r>
              <a:t>建议讲述时长：50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在线与数据新鲜是两个概念。网页连上服务器，并不表示传感器有新的采样。系统默认十秒无新鲜样本就显示过期，旧补传也不会让最新卡片倒退。联调发现代理在后端停机后可能让 EventSource 进入 CLOSED，单靠浏览器重试无法恢复。前端因此增加一到十五秒退避重建，恢复后重新读取快照、阈值和曲线，并清理旧连接与定时器。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Projects/web/src/useMonitoring.js</a:t>
            </a:r>
          </a:p>
          <a:p xmlns:a="http://schemas.openxmlformats.org/drawingml/2006/main">
            <a:r>
              <a:t>Projects/web/src/model.js</a:t>
            </a:r>
          </a:p>
          <a:p xmlns:a="http://schemas.openxmlformats.org/drawingml/2006/main">
            <a:r>
              <a:t>tmp/integration/run-cL5fJw/desktop-reconnected.png</a:t>
            </a:r>
          </a:p>
          <a:p xmlns:a="http://schemas.openxmlformats.org/drawingml/2006/main">
            <a:r>
              <a:t>Docs/三端联调验收记录.md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测试结果与证据</a:t>
            </a:r>
          </a:p>
          <a:p xmlns:a="http://schemas.openxmlformats.org/drawingml/2006/main">
            <a:r>
              <a:t>建议讲述时长：50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已有验收记录包含不同层次的测试，这里分别展示，不把不同粒度合并成一个总数。整体联调使用真实后端、独立节点进程、构建后的网页和原生 EventSource，共十组通过。重点故障场景包括丢 ACK、服务端停机和节点强杀重启。恢复时五十条积压数据保留原始 payload、启动标识、序号及采样时间，逐条补传后队列清零。该结果限定在本次本机软件测试。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Docs/三端联调验收记录.md</a:t>
            </a:r>
          </a:p>
          <a:p xmlns:a="http://schemas.openxmlformats.org/drawingml/2006/main">
            <a:r>
              <a:t>tmp/integration/run-cL5fJw/results.json</a:t>
            </a:r>
          </a:p>
          <a:p xmlns:a="http://schemas.openxmlformats.org/drawingml/2006/main">
            <a:r>
              <a:t>scripts/verify-system.mjs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现场演示流程</a:t>
            </a:r>
          </a:p>
          <a:p xmlns:a="http://schemas.openxmlformats.org/drawingml/2006/main">
            <a:r>
              <a:t>建议讲述时长：35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现场演示首先运行带 demo 场景的一键启动入口，确认真实入库 ACK 后再展示页面。随后观察正常、二氧化碳和粉尘超限、恢复过程。接着切换历史查询，并修改一个阈值，刷新后验证保存结果。最后使用启动窗口统一停止服务。强杀进程与完整故障注入由 verify-system 自动验证，可以单独运行，避免现场临时操作影响主线讲解。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scripts/start.mjs</a:t>
            </a:r>
          </a:p>
          <a:p xmlns:a="http://schemas.openxmlformats.org/drawingml/2006/main">
            <a:r>
              <a:t>Projects/simulator/src/generator.js</a:t>
            </a:r>
          </a:p>
          <a:p xmlns:a="http://schemas.openxmlformats.org/drawingml/2006/main">
            <a:r>
              <a:t>scripts/verify-system.mjs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当前边界与硬件接入计划</a:t>
            </a:r>
          </a:p>
          <a:p xmlns:a="http://schemas.openxmlformats.org/drawingml/2006/main">
            <a:r>
              <a:t>建议讲述时长：45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对照原课题，当前软件 MVP 并不等于完整硬件毕业设计。后续需要实现 STM32 采集、传感器驱动与标定，再由 ESP8266 按现有协议上传。还需要测量传感器精度、真实链路稳定性与长期数据。软件方面可以继续补充报警事件记录、设备鉴权和部署。本次不把这些计划写成已完成功能，也不报告尚未测量的吞吐、延迟或精度。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Docs/技术决策记录.md</a:t>
            </a:r>
          </a:p>
          <a:p xmlns:a="http://schemas.openxmlformats.org/drawingml/2006/main">
            <a:r>
              <a:t>Docs/三端联调验收记录.md</a:t>
            </a:r>
          </a:p>
          <a:p xmlns:a="http://schemas.openxmlformats.org/drawingml/2006/main">
            <a:r>
              <a:t>Projects/server/src/config.js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阶段总结</a:t>
            </a:r>
          </a:p>
          <a:p xmlns:a="http://schemas.openxmlformats.org/drawingml/2006/main">
            <a:r>
              <a:t>建议讲述时长：25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本阶段完成了可启动、可查询、可故障验证的软件闭环。重点工作落在可靠上传、幂等写入以及故障后数据和页面的恢复。接下来需要完成真实硬件接入和环境测试。实现过程使用 AI 工具生成与调试，汇报依据是现有代码、真实界面与可复现测试，个人贡献应按实际参与情况说明。我的汇报结束，谢谢各位老师。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Docs/三端联调验收记录.md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备答：故障场景与预期行为</a:t>
            </a:r>
          </a:p>
          <a:p xmlns:a="http://schemas.openxmlformats.org/drawingml/2006/main">
            <a:r>
              <a:t>建议讲述时长：备答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如果老师问如何证明可靠性，可以按这张表逐一说明：丢 ACK 验证幂等，停机和强杀验证本地队列持久化，恢复验证补传与网页重连。要明确保证的边界：本地数据库可正常工作的条件下，重试与唯一键保证消息不会因为确认丢失而重复入库。测试没有覆盖磁盘损坏、硬件掉电与长期大规模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scripts/verify-system.mjs</a:t>
            </a:r>
          </a:p>
          <a:p xmlns:a="http://schemas.openxmlformats.org/drawingml/2006/main">
            <a:r>
              <a:t>tmp/integration/run-cL5fJw/results.json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备答：接口与代码定位</a:t>
            </a:r>
          </a:p>
          <a:p xmlns:a="http://schemas.openxmlformats.org/drawingml/2006/main">
            <a:r>
              <a:t>建议讲述时长：备答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查询快照、历史与阈值使用 REST，实时变化使用 SSE，统一前缀为 api/v1。服务端 service 串联校验、保存与事件，db 模块负责 SQL 与事务。节点 node 和 outbox 分别负责发送状态与持久队列。答辩时可以沿一条数据从采样到卡片展示追踪代码，比只背技术名称更能解释系统。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项目依据：</a:t>
            </a:r>
          </a:p>
          <a:p xmlns:a="http://schemas.openxmlformats.org/drawingml/2006/main">
            <a:r>
              <a:t>Projects/server/src/http.js</a:t>
            </a:r>
          </a:p>
          <a:p xmlns:a="http://schemas.openxmlformats.org/drawingml/2006/main">
            <a:r>
              <a:t>Projects/server/src/service.js</a:t>
            </a:r>
          </a:p>
          <a:p xmlns:a="http://schemas.openxmlformats.org/drawingml/2006/main">
            <a:r>
              <a:t>Projects/server/src/db.js</a:t>
            </a:r>
          </a:p>
          <a:p xmlns:a="http://schemas.openxmlformats.org/drawingml/2006/main">
            <a:r>
              <a:t>Projects/simulator/src/node.js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ef1b0126904a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4a447af2384b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9322a1c9e48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6ef77e889441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f94e3b1f094d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53ebb08fd47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6AAF60-B2CF-4970-9FFB-988BD44530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3A90DC9-CCC9-4F0E-B740-A0A04A6D1DB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D01E830-708D-4F05-A4FB-563BD8A1BC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BB80EE3-DD3F-46AA-ACFB-254B19BF3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61E4F06-E99F-4E5C-BE31-BF014717C8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4565C4C-ADF8-43AA-9AB2-7AF22CC8E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AC4794-8B4A-4A68-975E-074DBC6D03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4596631-CC16-46F4-BADB-624B45DD8A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8F94DC-62A9-42AD-B71E-0ABA83861B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D71908-1315-42CE-9709-7E22EADCDB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5ddf0eb34d46b8" /><Relationship Type="http://schemas.openxmlformats.org/officeDocument/2006/relationships/slideLayout" Target="/ppt/slideLayouts/slideLayout1.xml" Id="R86acb0a8ae834720" /><Relationship Type="http://schemas.openxmlformats.org/officeDocument/2006/relationships/slideLayout" Target="/ppt/slideLayouts/slideLayout2.xml" Id="Rc3809193594341ea" /><Relationship Type="http://schemas.openxmlformats.org/officeDocument/2006/relationships/slideLayout" Target="/ppt/slideLayouts/slideLayout3.xml" Id="R246350ab630c48ce" /><Relationship Type="http://schemas.openxmlformats.org/officeDocument/2006/relationships/slideLayout" Target="/ppt/slideLayouts/slideLayout4.xml" Id="Rd396ade8064f4095" /><Relationship Type="http://schemas.openxmlformats.org/officeDocument/2006/relationships/slideLayout" Target="/ppt/slideLayouts/slideLayout5.xml" Id="Ra7e77f292f854811" /><Relationship Type="http://schemas.openxmlformats.org/officeDocument/2006/relationships/slideLayout" Target="/ppt/slideLayouts/slideLayout6.xml" Id="R958927b302204d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6acb0a8ae834720"/>
    <p:sldLayoutId xmlns:r="http://schemas.openxmlformats.org/officeDocument/2006/relationships" id="2147483650" r:id="Rc3809193594341ea"/>
    <p:sldLayoutId xmlns:r="http://schemas.openxmlformats.org/officeDocument/2006/relationships" id="2147483651" r:id="R246350ab630c48ce"/>
    <p:sldLayoutId xmlns:r="http://schemas.openxmlformats.org/officeDocument/2006/relationships" id="2147483652" r:id="Rd396ade8064f4095"/>
    <p:sldLayoutId xmlns:r="http://schemas.openxmlformats.org/officeDocument/2006/relationships" id="2147483653" r:id="Ra7e77f292f854811"/>
    <p:sldLayoutId xmlns:r="http://schemas.openxmlformats.org/officeDocument/2006/relationships" id="2147483654" r:id="R958927b302204d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2da78a7c2d4cae" /><Relationship Type="http://schemas.openxmlformats.org/officeDocument/2006/relationships/notesSlide" Target="/ppt/notesSlides/notesSlide1.xml" Id="Rbad3196add7845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e52a5768c24273" /><Relationship Type="http://schemas.openxmlformats.org/officeDocument/2006/relationships/notesSlide" Target="/ppt/notesSlides/notesSlide2.xml" Id="R99c321b6daa84d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d32600a03f469c" /><Relationship Type="http://schemas.openxmlformats.org/officeDocument/2006/relationships/notesSlide" Target="/ppt/notesSlides/notesSlide3.xml" Id="R4855ab1324f549e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bd62270b3246ba" /><Relationship Type="http://schemas.openxmlformats.org/officeDocument/2006/relationships/notesSlide" Target="/ppt/notesSlides/notesSlide4.xml" Id="R5b9390f5f87f4d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2b321b0d749c0" /><Relationship Type="http://schemas.openxmlformats.org/officeDocument/2006/relationships/notesSlide" Target="/ppt/notesSlides/notesSlide5.xml" Id="R5557dd8fea574c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0a89acb4814a36" /><Relationship Type="http://schemas.openxmlformats.org/officeDocument/2006/relationships/notesSlide" Target="/ppt/notesSlides/notesSlide6.xml" Id="Re6b6393282a94c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d2925bd144e80" /><Relationship Type="http://schemas.openxmlformats.org/officeDocument/2006/relationships/image" Target="/ppt/media/image.png" Id="R6633608046e448a0" /><Relationship Type="http://schemas.openxmlformats.org/officeDocument/2006/relationships/notesSlide" Target="/ppt/notesSlides/notesSlide7.xml" Id="R3ea57da8c5c54f6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b70c204f494d09" /><Relationship Type="http://schemas.openxmlformats.org/officeDocument/2006/relationships/image" Target="/ppt/media/image2.png" Id="Rd426bd9e482642b1" /><Relationship Type="http://schemas.openxmlformats.org/officeDocument/2006/relationships/notesSlide" Target="/ppt/notesSlides/notesSlide8.xml" Id="R93f3e32740b041b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e6151284b94d67" /><Relationship Type="http://schemas.openxmlformats.org/officeDocument/2006/relationships/image" Target="/ppt/media/image3.png" Id="Rfe52f66c50b4422a" /><Relationship Type="http://schemas.openxmlformats.org/officeDocument/2006/relationships/notesSlide" Target="/ppt/notesSlides/notesSlide9.xml" Id="R87a154c417ff40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800a8596834967" /><Relationship Type="http://schemas.openxmlformats.org/officeDocument/2006/relationships/notesSlide" Target="/ppt/notesSlides/notesSlide10.xml" Id="R6d4478a49a9c432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81345a5d33482e" /><Relationship Type="http://schemas.openxmlformats.org/officeDocument/2006/relationships/notesSlide" Target="/ppt/notesSlides/notesSlide11.xml" Id="R74f021b24dc346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8446743104daa" /><Relationship Type="http://schemas.openxmlformats.org/officeDocument/2006/relationships/notesSlide" Target="/ppt/notesSlides/notesSlide12.xml" Id="R1a96b7a74ed347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f0061d23e40c6" /><Relationship Type="http://schemas.openxmlformats.org/officeDocument/2006/relationships/notesSlide" Target="/ppt/notesSlides/notesSlide13.xml" Id="R922596dc711045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36fd1921fe4047" /><Relationship Type="http://schemas.openxmlformats.org/officeDocument/2006/relationships/notesSlide" Target="/ppt/notesSlides/notesSlide14.xml" Id="R2c19c1e076fd40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932bcc8b944b5b" /><Relationship Type="http://schemas.openxmlformats.org/officeDocument/2006/relationships/notesSlide" Target="/ppt/notesSlides/notesSlide15.xml" Id="R04e7d208e82442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3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D0CAF2B-D4B3-4C00-95B1-7BC24B8B5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1295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毕业设计答辩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C416ADF-A338-4479-AFD7-22106FD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3239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教室环境质量监测节点</a:t>
            </a:r>
          </a:p>
          <a:p xmlns:a="http://schemas.openxmlformats.org/drawingml/2006/main">
            <a:pPr algn="l">
              <a:def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设计与实现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CA02753-21FD-4AC1-931B-980C7536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57775"/>
            <a:ext cx="1238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软件 MVP 阶段成果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C42944C-1588-4097-8C8E-12E43151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810375"/>
            <a:ext cx="1257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杨自生    指导教师：张醒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67055D0-F2EE-4074-B849-F531849D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67600"/>
            <a:ext cx="1238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2026 年 10 月 17 日</a:t>
            </a:r>
          </a:p>
        </p:txBody>
      </p:sp>
    </p:spTree>
    <p:extLst>
      <p:ext uri="{BB962C8B-B14F-4D97-AF65-F5344CB8AC3E}">
        <p14:creationId xmlns:p14="http://schemas.microsoft.com/office/powerpoint/2010/main" val="6010918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2C14F70-598C-45BE-B673-777FC46A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监测需求与本次成果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DFFED71-DE3D-4EBD-8A09-7A01B1E0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单教室、单节点，默认每 2 秒采样一次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7EA1685-AC84-450B-A512-6D921F5D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2888CB-8556-470B-8CFE-C924F2FA8B6E}"/>
              </a:ext>
            </a:extLst>
          </p:cNvPr>
          <p:cNvGraphicFramePr/>
          <p:nvPr/>
        </p:nvGraphicFramePr>
        <p:xfrm>
          <a:off xmlns:a="http://schemas.openxmlformats.org/drawingml/2006/main" x="933450" y="2400300"/>
          <a:ext xmlns:a="http://schemas.openxmlformats.org/drawingml/2006/main" cx="133731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667000"/>
                <a:gridCol w="6705600"/>
              </a:tblGrid>
              <a:tr h="7429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显示单位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当前数据来源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温度、相对湿度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°C、%RH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虚拟节点连续趋势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二氧化碳浓度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ppm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虚拟节点 CO₂ 场景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粉尘浓度估算值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μg/m³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模拟 GP2Y1010 输出口径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光照强度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lx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虚拟节点连续趋势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C8654CC-7F0A-4623-A58E-FE2F05DE4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67500"/>
            <a:ext cx="1333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已完成：上传、存储、实时看板、历史查询、网页报警、阈值设置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03DF974-9849-4FD1-B7F8-0BD53C22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96175"/>
            <a:ext cx="1323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真实传感器与 STM32 / ESP8266 接入属于后续工作</a:t>
            </a:r>
          </a:p>
        </p:txBody>
      </p:sp>
    </p:spTree>
    <p:extLst>
      <p:ext uri="{BB962C8B-B14F-4D97-AF65-F5344CB8AC3E}">
        <p14:creationId xmlns:p14="http://schemas.microsoft.com/office/powerpoint/2010/main" val="541786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42CEDAA-77E9-40F9-8A46-244D710E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系统架构与职责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17958F-63E0-4723-B3CC-A5810CA9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三端独立 npm 项目，全部运行于 Windows 本机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ABCD716-77F1-4820-8367-73B205A1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7492B-8723-4852-ACF5-C127C8C17A8D}"/>
              </a:ext>
            </a:extLst>
          </p:cNvPr>
          <p:cNvGraphicFramePr/>
          <p:nvPr/>
        </p:nvGraphicFramePr>
        <p:xfrm>
          <a:off xmlns:a="http://schemas.openxmlformats.org/drawingml/2006/main" x="933450" y="2476500"/>
          <a:ext xmlns:a="http://schemas.openxmlformats.org/drawingml/2006/main" cx="133731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6191250"/>
                <a:gridCol w="3943350"/>
              </a:tblGrid>
              <a:tr h="8382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主要实现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对外连接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虚拟节点 simulator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情景采样、SQLite outbox、按序补传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 3.1.1，QoS 1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 server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Express、Aedes、校验、SQLite、报警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REST 查询与设置，SSE 推送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网页端 web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React、Vite、ECharts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实时看板、历史查询、阈值弹窗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启动器 start.cmd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依赖检查、构建、就绪检查、统一停止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健康检查与真实入库 ACK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3C514F2-7A56-4C07-8202-6CE460B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81850"/>
            <a:ext cx="1323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数据路径：节点发布 MQTT，服务端事务入库，网页通过 REST / SSE 获取结果</a:t>
            </a:r>
          </a:p>
        </p:txBody>
      </p:sp>
    </p:spTree>
    <p:extLst>
      <p:ext uri="{BB962C8B-B14F-4D97-AF65-F5344CB8AC3E}">
        <p14:creationId xmlns:p14="http://schemas.microsoft.com/office/powerpoint/2010/main" val="4269279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B4C05E2-BE0F-447C-919F-C6EE0D3E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统一数据协议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0779A45-A609-429C-A72B-636A58C8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JSON Schema 校验，单条 MQTT 负载上限 1024 字节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51626CE-9A35-4E10-89F3-7B81946F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BF2EC-945C-4A5B-A5A0-6A261A8A6FAA}"/>
              </a:ext>
            </a:extLst>
          </p:cNvPr>
          <p:cNvGraphicFramePr/>
          <p:nvPr/>
        </p:nvGraphicFramePr>
        <p:xfrm>
          <a:off xmlns:a="http://schemas.openxmlformats.org/drawingml/2006/main" x="933450" y="2505075"/>
          <a:ext xmlns:a="http://schemas.openxmlformats.org/drawingml/2006/main" cx="133731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5429250"/>
                <a:gridCol w="5467350"/>
              </a:tblGrid>
              <a:tr h="8001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字段组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字段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身份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device_id、room_id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识别节点与所属教室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消息标识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boot_id、seq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区分启动批次与采样序号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时间与来源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sampled_at、source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保留采样时间，明确模拟来源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环境数据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metrics 中的五项指标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统一单位，缺测使用 null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23C00FE-C618-41F0-A097-611C024D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48500"/>
            <a:ext cx="1304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幂等键：(device_id, boot_id, seq)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DE6525A-7B61-4A3C-BEB4-1AAFE6F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67625"/>
            <a:ext cx="1285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UTC 存储时间，网页按浏览器本地时区显示</a:t>
            </a:r>
          </a:p>
        </p:txBody>
      </p:sp>
    </p:spTree>
    <p:extLst>
      <p:ext uri="{BB962C8B-B14F-4D97-AF65-F5344CB8AC3E}">
        <p14:creationId xmlns:p14="http://schemas.microsoft.com/office/powerpoint/2010/main" val="62951769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899F8FA6-3A3C-4D50-B033-F95AED57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可靠上传与断线补传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CA4207E-AEFB-40E5-9221-97E2D278F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节点收到事务提交后的应用 ACK，才删除本地记录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AEDE661-C70B-4FAD-9140-535ED2E0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367D7E-E932-4D8B-B427-46C8BCB1C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288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F83B644-ECCA-4755-A2F6-463DF8AB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28875"/>
            <a:ext cx="1223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采样先进入 SQLite outbox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030A8B10-199B-4850-87F7-D9961133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38475"/>
            <a:ext cx="1176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网络中断时继续保存采样，进程重启后读取原有队列。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6EC4FB7-7AFC-4D1C-B301-FAFF9D01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481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2C14782-2836-45DD-95BD-A1AA0BC4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48125"/>
            <a:ext cx="1223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按序发布并等待应用 ACK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5C654C0-7778-4B11-A753-56DF3907A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57725"/>
            <a:ext cx="1176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QoS 1 上传；MQTT PUBACK 本身不触发队列删除。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5BAEEFA-770B-4EAA-8003-56E19DF5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673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4556DF98-536A-480E-A456-4CE5468C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67375"/>
            <a:ext cx="1223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服务端校验、去重与事务提交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7D0626F-2180-4905-AC10-56E43742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76975"/>
            <a:ext cx="1176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提交成功返回 stored，同一消息重复到达返回 duplicate。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2CAAED2-F257-44C9-8515-7F0BF868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477125"/>
            <a:ext cx="1190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ACK 超时重发原文；恢复连接后继续补传</a:t>
            </a:r>
          </a:p>
        </p:txBody>
      </p:sp>
    </p:spTree>
    <p:extLst>
      <p:ext uri="{BB962C8B-B14F-4D97-AF65-F5344CB8AC3E}">
        <p14:creationId xmlns:p14="http://schemas.microsoft.com/office/powerpoint/2010/main" val="19094324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33A65FA-920B-4F43-A6A1-78519D62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报警判断与迟滞恢复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DABDD4-A3BC-4ED9-AFAB-E3439B59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默认连续 3 次超限触发，连续 3 次满足恢复条件后清除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9F531F-2FB1-4C00-90EF-DA1FCFC5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C2982-D119-4307-9C5F-987E2DC861B3}"/>
              </a:ext>
            </a:extLst>
          </p:cNvPr>
          <p:cNvGraphicFramePr/>
          <p:nvPr/>
        </p:nvGraphicFramePr>
        <p:xfrm>
          <a:off xmlns:a="http://schemas.openxmlformats.org/drawingml/2006/main" x="933450" y="2476500"/>
          <a:ext xmlns:a="http://schemas.openxmlformats.org/drawingml/2006/main" cx="133731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381500"/>
                <a:gridCol w="5943600"/>
              </a:tblGrid>
              <a:tr h="8382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CO₂ 演示配置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触发条件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&gt; 1000 ppm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连续超限才进入报警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恢复条件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900 ppm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留出 100 ppm 迟滞，减少抖动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有效样本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新鲜、时间已知、顺序递增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旧补传与缺测不推动报警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持久化边界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阈值入库，报警状态在内存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服务端重启后重新判断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48CF55CA-1B47-405F-8C36-8484B30C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334250"/>
            <a:ext cx="13287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rPr>
              <a:t>阈值为工程演示配置，粉尘读数为浓度估算值</a:t>
            </a:r>
          </a:p>
        </p:txBody>
      </p:sp>
    </p:spTree>
    <p:extLst>
      <p:ext uri="{BB962C8B-B14F-4D97-AF65-F5344CB8AC3E}">
        <p14:creationId xmlns:p14="http://schemas.microsoft.com/office/powerpoint/2010/main" val="51741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8DEFD4F2-70E4-4582-95B0-9B90A9A0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实时看板与当前报警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4B563B9-2030-448E-A152-F144369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真实全链路验收截图，数据来自虚拟节点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BBC05AB-00B4-449E-86EB-75BA4883C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A4F1AA-425E-4F94-897E-CC0E3E71E5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3608046e448a0"/>
          <a:srcRect xmlns:a="http://schemas.openxmlformats.org/drawingml/2006/main" l="2500" t="14000" r="2500" b="52000"/>
          <a:stretch xmlns:a="http://schemas.openxmlformats.org/drawingml/2006/main"/>
        </p:blipFill>
        <p:spPr>
          <a:xfrm xmlns:a="http://schemas.openxmlformats.org/drawingml/2006/main">
            <a:off x="914400" y="2476500"/>
            <a:ext cx="13411200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D84F3E1-BEB2-42A0-AF98-169598F6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162800"/>
            <a:ext cx="1333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五项读数与 REST latest 核对一致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E7617E6-83C3-4D89-8489-37A33806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62875"/>
            <a:ext cx="1304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页面同时显示数据来源、采样时间、新鲜度与当前超限指标</a:t>
            </a:r>
          </a:p>
        </p:txBody>
      </p:sp>
    </p:spTree>
    <p:extLst>
      <p:ext uri="{BB962C8B-B14F-4D97-AF65-F5344CB8AC3E}">
        <p14:creationId xmlns:p14="http://schemas.microsoft.com/office/powerpoint/2010/main" val="21316679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BAC033EB-F7B0-48AD-9001-FD27E595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历史查询与时间口径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94E41A8-9E7F-45F0-8075-FB004122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按指标和时间范围查询，使用时间桶均值与样本数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4BC306C-8DBF-4FAC-8EAA-AAAFB68F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8E7DF-B4A7-4B2A-8A67-DEB588A928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6bd9e482642b1"/>
          <a:srcRect xmlns:a="http://schemas.openxmlformats.org/drawingml/2006/main" l="2000" t="10000" r="2000" b="10000"/>
          <a:stretch xmlns:a="http://schemas.openxmlformats.org/drawingml/2006/main"/>
        </p:blipFill>
        <p:spPr>
          <a:xfrm xmlns:a="http://schemas.openxmlformats.org/drawingml/2006/main">
            <a:off x="933450" y="2286000"/>
            <a:ext cx="9525000" cy="5286375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80F23416-AB77-4E2F-AD2E-6B157B0B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6860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原采样时间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0A1232E-34F6-4A2E-B7EE-B6504936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371850"/>
            <a:ext cx="3381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补传保留 sampled_at，</a:t>
            </a:r>
          </a:p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历史按采样时间归位。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555DDF5-9210-4994-9212-2B2DD40D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1244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可核对的统计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4EE812-E1B7-4B30-9C58-FEB35589D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5810250"/>
            <a:ext cx="3381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均值与样本数均与</a:t>
            </a:r>
          </a:p>
          <a:p xmlns:a="http://schemas.openxmlformats.org/drawingml/2006/main">
            <a:pPr algn="l">
              <a:def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原始数据库核对。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495CF7B-49B4-4112-B17D-3FC0969D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91450"/>
            <a:ext cx="1323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截图仅含短时验收样本，未进行真实教室长期采集</a:t>
            </a:r>
          </a:p>
        </p:txBody>
      </p:sp>
    </p:spTree>
    <p:extLst>
      <p:ext uri="{BB962C8B-B14F-4D97-AF65-F5344CB8AC3E}">
        <p14:creationId xmlns:p14="http://schemas.microsoft.com/office/powerpoint/2010/main" val="496588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3975CE1-6617-4EBF-8DED-98384D2D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故障恢复与数据新鲜度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EAA8E6A-94CF-4C3E-9F91-F92E4242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连接状态与采样新鲜度分别判断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4C5C174-9F90-4173-8D09-2F71E58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80A544F-0826-4EAD-B2B4-A744C15B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00325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服务端停机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1B01145-A2F0-4E7D-ACBF-56D7422E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24225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节点继续持久采样。</a:t>
            </a:r>
          </a:p>
          <a:p xmlns:a="http://schemas.openxmlformats.org/drawingml/2006/main">
            <a:pPr algn="l">
              <a:def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页面保留最近值并提示数据过期。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149F9CA-2F5B-4176-8884-489E398F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00650"/>
            <a:ext cx="628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服务端恢复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04BECCE-FD5E-4AB4-8817-D0DD77CE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934075"/>
            <a:ext cx="6286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节点补传，网页重建 SSE 订阅，</a:t>
            </a:r>
          </a:p>
          <a:p xmlns:a="http://schemas.openxmlformats.org/drawingml/2006/main">
            <a:pPr algn="l">
              <a:def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随后回读快照、阈值和曲线。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A5617-8BBC-42F2-87B3-2B33504A8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52f66c50b4422a"/>
          <a:srcRect xmlns:a="http://schemas.openxmlformats.org/drawingml/2006/main" l="2500" t="16000" r="2500" b="10000"/>
          <a:stretch xmlns:a="http://schemas.openxmlformats.org/drawingml/2006/main"/>
        </p:blipFill>
        <p:spPr>
          <a:xfrm xmlns:a="http://schemas.openxmlformats.org/drawingml/2006/main">
            <a:off x="8048625" y="2362200"/>
            <a:ext cx="6286500" cy="5048250"/>
          </a:xfrm>
          <a:prstGeom xmlns:a="http://schemas.openxmlformats.org/drawingml/2006/main" prst="rect">
            <a:avLst/>
          </a:prstGeom>
        </p:spPr>
      </p:pic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20EF1CC8-4244-4673-8B07-F83E5302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7628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CLOSED 状态重连退避为 1 至 15 秒，恢复后保持一条活动 SSE</a:t>
            </a:r>
          </a:p>
        </p:txBody>
      </p:sp>
    </p:spTree>
    <p:extLst>
      <p:ext uri="{BB962C8B-B14F-4D97-AF65-F5344CB8AC3E}">
        <p14:creationId xmlns:p14="http://schemas.microsoft.com/office/powerpoint/2010/main" val="8538574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946A5573-95D9-42D5-92D3-36551069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测试结果与证据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B76C82-1D77-4138-9061-10BC48F15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结果来自 2026 年 10 月 16 日验收记录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136AC4E-7B9A-4EA0-B78D-601CE8572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6D27647-BE1B-428C-A259-33E597A1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590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10 / 10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CB17C8F-26C9-4BCD-BCD9-EC831C6F4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433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真实整体联调通过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2D173F-7A64-42F7-A678-1478BF81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00300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67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50 条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7CD0D9E-9018-4C43-BD5C-8E111071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7433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积压数据原文补传，队列清零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A75B9-E1DF-4833-98D6-FF9CAB79A864}"/>
              </a:ext>
            </a:extLst>
          </p:cNvPr>
          <p:cNvGraphicFramePr/>
          <p:nvPr/>
        </p:nvGraphicFramePr>
        <p:xfrm>
          <a:off xmlns:a="http://schemas.openxmlformats.org/drawingml/2006/main" x="933450" y="4905375"/>
          <a:ext xmlns:a="http://schemas.openxmlformats.org/drawingml/2006/main" cx="133731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3714750"/>
                <a:gridCol w="5657850"/>
              </a:tblGrid>
              <a:tr h="654844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验证层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记录结果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覆盖内容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 / 节点 / 前端数据检查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17/17、4/4、4/4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校验、存储、补传、数据处理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 / 生产预览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11/11、1/1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页面交互、SSE 重连、构建运行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654844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故障注入与整体联调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10/10 组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ACK 丢失、强杀、重启、端口释放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</a:tbl>
          </a:graphicData>
        </a:graphic>
      </p:graphicFrame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A687C3C5-D9D3-4336-ADF5-AF05D561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810500"/>
            <a:ext cx="1333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统计粒度不同，分别列示；尚无传感器精度或长期稳定性实测</a:t>
            </a:r>
          </a:p>
        </p:txBody>
      </p:sp>
    </p:spTree>
    <p:extLst>
      <p:ext uri="{BB962C8B-B14F-4D97-AF65-F5344CB8AC3E}">
        <p14:creationId xmlns:p14="http://schemas.microsoft.com/office/powerpoint/2010/main" val="3899500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7B2E51EC-465A-4FCB-BC33-5DE73A34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现场演示流程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2D3484-1604-4919-8B2C-9E8A9617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一键启动、情景变化、历史查询与恢复验证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BCB59C2-013A-44E8-BB13-962F988D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0FC0797-3038-4A42-B54F-A4FF50A2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1775C89-80F1-464A-933D-F511D780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390775"/>
            <a:ext cx="1223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启动并确认就绪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6BA50E9-F0F8-46C3-A0B7-A82DD25C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000375"/>
            <a:ext cx="1176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运行 start.cmd --scenario demo，浏览器自动打开。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106CD3A-E8F5-40B1-A76D-6A5E0D02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00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C34FB2A-A076-41E7-A43B-F7939AB5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000500"/>
            <a:ext cx="1223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展示正常、超限与恢复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EA8D742-54B3-4962-ACB5-32EA1E3C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610100"/>
            <a:ext cx="1176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观察五项实时指标、CO₂ / 粉尘场景及报警变化。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2FAD7D4-1C5D-4CD7-A7A8-6599F860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0225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FE55CD9-7636-4911-A1DF-475C7EA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0225"/>
            <a:ext cx="1223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展示历史与阈值持久化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EB634A11-FC64-4EDA-B0C5-32796072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6219825"/>
            <a:ext cx="11763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切换历史页，修改阈值并刷新回读；结束时统一停止。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3C3E51D4-4262-4303-AC7A-00D8407D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7543800"/>
            <a:ext cx="1190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7C6B"/>
                </a:solidFill>
                <a:latin typeface="Microsoft YaHei"/>
                <a:ea typeface="Microsoft YaHei"/>
                <a:cs typeface="Microsoft YaHei"/>
              </a:rPr>
              <a:t>完整故障注入可另运行 node scripts/verify-system.mjs</a:t>
            </a:r>
          </a:p>
        </p:txBody>
      </p:sp>
    </p:spTree>
    <p:extLst>
      <p:ext uri="{BB962C8B-B14F-4D97-AF65-F5344CB8AC3E}">
        <p14:creationId xmlns:p14="http://schemas.microsoft.com/office/powerpoint/2010/main" val="13303254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AE48EF7-7DD4-44A6-8B8D-CEFDEEBD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当前边界与硬件接入计划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47D439E-6E12-41A4-A4D4-5CBADE6A9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软件协议与服务已跑通，硬件链路仍需实现和测试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7279E9-5050-4579-A9AF-473EB02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0E2AF-A92C-4D1D-B4C8-0CF703AB4F83}"/>
              </a:ext>
            </a:extLst>
          </p:cNvPr>
          <p:cNvGraphicFramePr/>
          <p:nvPr/>
        </p:nvGraphicFramePr>
        <p:xfrm>
          <a:off xmlns:a="http://schemas.openxmlformats.org/drawingml/2006/main" x="933450" y="2495550"/>
          <a:ext xmlns:a="http://schemas.openxmlformats.org/drawingml/2006/main" cx="133731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7086600"/>
              </a:tblGrid>
              <a:tr h="8191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当前边界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后续工作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虚拟节点数据，未接真实传感器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STM32F103C8T6 采集与驱动，传感器标定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MQTT 输入端已实现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ESP8266 联网、相同协议上传、掉线恢复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报警状态在内存，无历史报警页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评估报警事件持久化与查询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191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仅监听本机，无设备鉴权或云部署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接入鉴权、网络配置与部署验证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EF64641-666A-4A9D-B72E-6FF4DE64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19950"/>
            <a:ext cx="13315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A76619"/>
                </a:solidFill>
                <a:latin typeface="Microsoft YaHei"/>
                <a:ea typeface="Microsoft YaHei"/>
                <a:cs typeface="Microsoft YaHei"/>
              </a:rPr>
              <a:t>粉尘使用 GP2Y1010 浓度估算口径，真实环境效果需要硬件实测</a:t>
            </a:r>
          </a:p>
        </p:txBody>
      </p:sp>
    </p:spTree>
    <p:extLst>
      <p:ext uri="{BB962C8B-B14F-4D97-AF65-F5344CB8AC3E}">
        <p14:creationId xmlns:p14="http://schemas.microsoft.com/office/powerpoint/2010/main" val="15098337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35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3623345F-BB8B-4902-9908-A08E7DA4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阶段总结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858CC2B-D41A-4991-82A0-90CD899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软件 MVP 已建立可复现的数据闭环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9C9C3D-7029-4DB9-8229-C1B5F9CE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7FD7F59-8FD2-485B-AFD2-77CB48EA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可靠上传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1488BF0-F70C-4DC8-9BDD-B22C92E3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323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持久队列、事务后 ACK、幂等入库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677C950-DE23-4423-ACC8-BB26BC1C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00600"/>
            <a:ext cx="1333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可验证的恢复过程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5698A8F-320D-4C47-9BBB-9876B1D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13239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B7D7CA"/>
                </a:solidFill>
                <a:latin typeface="Microsoft YaHei"/>
                <a:ea typeface="Microsoft YaHei"/>
                <a:cs typeface="Microsoft YaHei"/>
              </a:rPr>
              <a:t>故障注入验证补传，网页自动恢复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448B2E8-659E-4D3B-AEF5-5F28A7D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096125"/>
            <a:ext cx="1323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谢谢各位老师</a:t>
            </a:r>
          </a:p>
        </p:txBody>
      </p:sp>
    </p:spTree>
    <p:extLst>
      <p:ext uri="{BB962C8B-B14F-4D97-AF65-F5344CB8AC3E}">
        <p14:creationId xmlns:p14="http://schemas.microsoft.com/office/powerpoint/2010/main" val="19239587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C0D2A91-7FFE-4235-AE29-4378E9E0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备答：故障场景与预期行为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596BE1A-FF3D-4464-A7FA-316FC216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用于回答可靠性与数据一致性问题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6087BBD-4B4A-4B07-99A8-9C78165E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F58F1-0986-4736-833C-4C5FAE6BFCD9}"/>
              </a:ext>
            </a:extLst>
          </p:cNvPr>
          <p:cNvGraphicFramePr/>
          <p:nvPr/>
        </p:nvGraphicFramePr>
        <p:xfrm>
          <a:off xmlns:a="http://schemas.openxmlformats.org/drawingml/2006/main" x="933450" y="2524125"/>
          <a:ext xmlns:a="http://schemas.openxmlformats.org/drawingml/2006/main" cx="133731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4905375"/>
                <a:gridCol w="4181475"/>
              </a:tblGrid>
              <a:tr h="8953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处理机制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已记录验证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数据库已提交，应用 ACK 丢失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原文重发，返回 duplicate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该消息仅入库一条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后端停机，节点继续采样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outbox 持久保存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积压 50 条逐条核对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节点进程被强制终止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重启后读取原有消息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payload / boot_id / seq 保持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8953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后端恢复，浏览器 SSE 已关闭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退避重建订阅并回读 REST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自动恢复，一条活动 SSE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5E7F3F-890F-4298-AB9F-F416EE46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20000"/>
            <a:ext cx="1333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以上为一次受控故障测试记录，不代表所有断电、磁盘故障或长期环境</a:t>
            </a:r>
          </a:p>
        </p:txBody>
      </p:sp>
    </p:spTree>
    <p:extLst>
      <p:ext uri="{BB962C8B-B14F-4D97-AF65-F5344CB8AC3E}">
        <p14:creationId xmlns:p14="http://schemas.microsoft.com/office/powerpoint/2010/main" val="10917938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00EDF0D-E728-4072-9FBA-83563320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1341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63C3D"/>
                </a:solidFill>
                <a:latin typeface="Microsoft YaHei"/>
                <a:ea typeface="Microsoft YaHei"/>
                <a:cs typeface="Microsoft YaHei"/>
              </a:rPr>
              <a:t>备答：接口与代码定位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4A11390-89CE-42AE-940B-9AFDD5F5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33525"/>
            <a:ext cx="1333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核心实现可以直接定位到源码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CE83957-69D0-4D73-84C6-3D5E18DA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800100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FF0F9-23F0-488A-8B0D-EA05B09D1893}"/>
              </a:ext>
            </a:extLst>
          </p:cNvPr>
          <p:cNvGraphicFramePr/>
          <p:nvPr/>
        </p:nvGraphicFramePr>
        <p:xfrm>
          <a:off xmlns:a="http://schemas.openxmlformats.org/drawingml/2006/main" x="933450" y="2457450"/>
          <a:ext xmlns:a="http://schemas.openxmlformats.org/drawingml/2006/main" cx="13373100" cy="4572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5095875"/>
                <a:gridCol w="5419725"/>
              </a:tblGrid>
              <a:tr h="7620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接口 / 模块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源码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T w="6668">
                      <a:solidFill>
                        <a:srgbClr val="D5DFD8"/>
                      </a:solidFill>
                      <a:prstDash val="solid"/>
                    </a:lnT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117C6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最新快照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 /devices/:id/latest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server/src/service.js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历史曲线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 /devices/:id/series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server/src/db.js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阈值查询与保存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 / PUT /devices/:id/thresholds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server/src/http.js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实时事件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GET /events?device_id=…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server/src/events.js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EFF3E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队列与补传</a:t>
                      </a:r>
                    </a:p>
                  </a:txBody>
                  <a:tcPr marL="190500" marR="190500" marT="152400" marB="114300" anchor="ctr">
                    <a:lnL w="6668">
                      <a:solidFill>
                        <a:srgbClr val="D5DFD8"/>
                      </a:solidFill>
                      <a:prstDash val="solid"/>
                    </a:lnL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 SQLite outbox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C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simulator/src/node.js、outbox.js</a:t>
                      </a:r>
                    </a:p>
                  </a:txBody>
                  <a:tcPr marL="190500" marR="190500" marT="152400" marB="114300" anchor="ctr">
                    <a:lnR w="6668">
                      <a:solidFill>
                        <a:srgbClr val="D5DFD8"/>
                      </a:solidFill>
                      <a:prstDash val="solid"/>
                    </a:lnR>
                    <a:lnB w="6668">
                      <a:solidFill>
                        <a:srgbClr val="D5DFD8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D088B5A-98A5-45F3-B541-1B4C61B1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629525"/>
            <a:ext cx="1333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17574"/>
                </a:solidFill>
                <a:latin typeface="Microsoft YaHei"/>
                <a:ea typeface="Microsoft YaHei"/>
                <a:cs typeface="Microsoft YaHei"/>
              </a:rPr>
              <a:t>所有 HTTP 路由前缀均为 /api/v1；源码路径相对于 Projects/</a:t>
            </a:r>
          </a:p>
        </p:txBody>
      </p:sp>
    </p:spTree>
    <p:extLst>
      <p:ext uri="{BB962C8B-B14F-4D97-AF65-F5344CB8AC3E}">
        <p14:creationId xmlns:p14="http://schemas.microsoft.com/office/powerpoint/2010/main" val="1735884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2026-10-17T15:09:32.2850000Z</dcterms:created>
  <dcterms:modified xsi:type="dcterms:W3CDTF">2026-10-17T15:09:32.2850000Z</dcterms:modified>
</coreProperties>
</file>