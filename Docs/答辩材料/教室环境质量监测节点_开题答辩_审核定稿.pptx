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4e4fc9e6e4343" /><Relationship Type="http://schemas.openxmlformats.org/officeDocument/2006/relationships/extended-properties" Target="/docProps/app.xml" Id="Ra25145aae61842d6" /><Relationship Type="http://schemas.openxmlformats.org/officeDocument/2006/relationships/officeDocument" Target="/ppt/presentation.xml" Id="Rf3bd1d05a824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b35396f6e44be"/>
  </p:sldMasterIdLst>
  <p:notesMasterIdLst>
    <p:notesMasterId xmlns:r="http://schemas.openxmlformats.org/officeDocument/2006/relationships" r:id="R8968348cb90044ed"/>
  </p:notesMasterIdLst>
  <p:sldIdLst>
    <p:sldId xmlns:r="http://schemas.openxmlformats.org/officeDocument/2006/relationships" id="256" r:id="R283843b183af4b59"/>
    <p:sldId xmlns:r="http://schemas.openxmlformats.org/officeDocument/2006/relationships" id="257" r:id="R2a465a672f9d44f3"/>
    <p:sldId xmlns:r="http://schemas.openxmlformats.org/officeDocument/2006/relationships" id="258" r:id="R044ca8ec5f4249c0"/>
    <p:sldId xmlns:r="http://schemas.openxmlformats.org/officeDocument/2006/relationships" id="259" r:id="R00dc45e8a8d44c96"/>
    <p:sldId xmlns:r="http://schemas.openxmlformats.org/officeDocument/2006/relationships" id="260" r:id="Rbf74cbf49cc94ab9"/>
    <p:sldId xmlns:r="http://schemas.openxmlformats.org/officeDocument/2006/relationships" id="261" r:id="R714d4cf9e98c4fe1"/>
    <p:sldId xmlns:r="http://schemas.openxmlformats.org/officeDocument/2006/relationships" id="262" r:id="R307a0b49f42c4383"/>
    <p:sldId xmlns:r="http://schemas.openxmlformats.org/officeDocument/2006/relationships" id="263" r:id="R2f532d4cb86c41f4"/>
    <p:sldId xmlns:r="http://schemas.openxmlformats.org/officeDocument/2006/relationships" id="264" r:id="R8eb3f02ac6304ead"/>
    <p:sldId xmlns:r="http://schemas.openxmlformats.org/officeDocument/2006/relationships" id="265" r:id="Ra26bfcd8d3bd428b"/>
    <p:sldId xmlns:r="http://schemas.openxmlformats.org/officeDocument/2006/relationships" id="266" r:id="R4ff2fff521be4de7"/>
    <p:sldId xmlns:r="http://schemas.openxmlformats.org/officeDocument/2006/relationships" id="267" r:id="R6b68bb6f8e8f4b01"/>
    <p:sldId xmlns:r="http://schemas.openxmlformats.org/officeDocument/2006/relationships" id="268" r:id="R2c5ad17c51ac4cd4"/>
    <p:sldId xmlns:r="http://schemas.openxmlformats.org/officeDocument/2006/relationships" id="269" r:id="R8b4f814951f94252"/>
    <p:sldId xmlns:r="http://schemas.openxmlformats.org/officeDocument/2006/relationships" id="270" r:id="R6ee05c7bb3ba4ddc"/>
    <p:sldId xmlns:r="http://schemas.openxmlformats.org/officeDocument/2006/relationships" id="271" r:id="R3898a9c6b3e54892"/>
    <p:sldId xmlns:r="http://schemas.openxmlformats.org/officeDocument/2006/relationships" id="272" r:id="R2381e24795ab44d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9d9a96f16c474b" /><Relationship Type="http://schemas.openxmlformats.org/officeDocument/2006/relationships/slideMaster" Target="/ppt/slideMasters/slideMaster1.xml" Id="Rda1b35396f6e44be" /><Relationship Type="http://schemas.openxmlformats.org/officeDocument/2006/relationships/notesMaster" Target="/ppt/notesMasters/notesMaster1.xml" Id="R8968348cb90044ed" /><Relationship Type="http://schemas.openxmlformats.org/officeDocument/2006/relationships/presProps" Target="/ppt/presProps.xml" Id="R4be1572b3e76434f" /><Relationship Type="http://schemas.openxmlformats.org/officeDocument/2006/relationships/tableStyles" Target="/ppt/tableStyles.xml" Id="R2fc4b06564274830" /><Relationship Type="http://schemas.openxmlformats.org/officeDocument/2006/relationships/slide" Target="/ppt/slides/slide1.xml" Id="R283843b183af4b59" /><Relationship Type="http://schemas.openxmlformats.org/officeDocument/2006/relationships/slide" Target="/ppt/slides/slide2.xml" Id="R2a465a672f9d44f3" /><Relationship Type="http://schemas.openxmlformats.org/officeDocument/2006/relationships/slide" Target="/ppt/slides/slide3.xml" Id="R044ca8ec5f4249c0" /><Relationship Type="http://schemas.openxmlformats.org/officeDocument/2006/relationships/slide" Target="/ppt/slides/slide4.xml" Id="R00dc45e8a8d44c96" /><Relationship Type="http://schemas.openxmlformats.org/officeDocument/2006/relationships/slide" Target="/ppt/slides/slide5.xml" Id="Rbf74cbf49cc94ab9" /><Relationship Type="http://schemas.openxmlformats.org/officeDocument/2006/relationships/slide" Target="/ppt/slides/slide6.xml" Id="R714d4cf9e98c4fe1" /><Relationship Type="http://schemas.openxmlformats.org/officeDocument/2006/relationships/slide" Target="/ppt/slides/slide7.xml" Id="R307a0b49f42c4383" /><Relationship Type="http://schemas.openxmlformats.org/officeDocument/2006/relationships/slide" Target="/ppt/slides/slide8.xml" Id="R2f532d4cb86c41f4" /><Relationship Type="http://schemas.openxmlformats.org/officeDocument/2006/relationships/slide" Target="/ppt/slides/slide9.xml" Id="R8eb3f02ac6304ead" /><Relationship Type="http://schemas.openxmlformats.org/officeDocument/2006/relationships/slide" Target="/ppt/slides/slide10.xml" Id="Ra26bfcd8d3bd428b" /><Relationship Type="http://schemas.openxmlformats.org/officeDocument/2006/relationships/slide" Target="/ppt/slides/slide11.xml" Id="R4ff2fff521be4de7" /><Relationship Type="http://schemas.openxmlformats.org/officeDocument/2006/relationships/slide" Target="/ppt/slides/slide12.xml" Id="R6b68bb6f8e8f4b01" /><Relationship Type="http://schemas.openxmlformats.org/officeDocument/2006/relationships/slide" Target="/ppt/slides/slide13.xml" Id="R2c5ad17c51ac4cd4" /><Relationship Type="http://schemas.openxmlformats.org/officeDocument/2006/relationships/slide" Target="/ppt/slides/slide14.xml" Id="R8b4f814951f94252" /><Relationship Type="http://schemas.openxmlformats.org/officeDocument/2006/relationships/slide" Target="/ppt/slides/slide15.xml" Id="R6ee05c7bb3ba4ddc" /><Relationship Type="http://schemas.openxmlformats.org/officeDocument/2006/relationships/slide" Target="/ppt/slides/slide16.xml" Id="R3898a9c6b3e54892" /><Relationship Type="http://schemas.openxmlformats.org/officeDocument/2006/relationships/slide" Target="/ppt/slides/slide17.xml" Id="R2381e24795ab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f35f9d27441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0d51cda1b4832" /><Relationship Type="http://schemas.openxmlformats.org/officeDocument/2006/relationships/notesMaster" Target="/ppt/notesMasters/notesMaster1.xml" Id="Rfeee64e27fe04c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afce7d1e64248" /><Relationship Type="http://schemas.openxmlformats.org/officeDocument/2006/relationships/notesMaster" Target="/ppt/notesMasters/notesMaster1.xml" Id="R51db68a36a73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71fa5c43e4fc8" /><Relationship Type="http://schemas.openxmlformats.org/officeDocument/2006/relationships/notesMaster" Target="/ppt/notesMasters/notesMaster1.xml" Id="Re31663377a1e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e64a818f034a62" /><Relationship Type="http://schemas.openxmlformats.org/officeDocument/2006/relationships/notesMaster" Target="/ppt/notesMasters/notesMaster1.xml" Id="Re78925276b88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a6e38a7bd4107" /><Relationship Type="http://schemas.openxmlformats.org/officeDocument/2006/relationships/notesMaster" Target="/ppt/notesMasters/notesMaster1.xml" Id="R8ac36e09a28c4b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be5a22fa14a98" /><Relationship Type="http://schemas.openxmlformats.org/officeDocument/2006/relationships/notesMaster" Target="/ppt/notesMasters/notesMaster1.xml" Id="R1066755e321344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1e0f86cda42a3" /><Relationship Type="http://schemas.openxmlformats.org/officeDocument/2006/relationships/notesMaster" Target="/ppt/notesMasters/notesMaster1.xml" Id="R66ae43a9b29b4c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2ca957624f4f4c" /><Relationship Type="http://schemas.openxmlformats.org/officeDocument/2006/relationships/notesMaster" Target="/ppt/notesMasters/notesMaster1.xml" Id="R575b40b6134a42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b62592ff294f64" /><Relationship Type="http://schemas.openxmlformats.org/officeDocument/2006/relationships/notesMaster" Target="/ppt/notesMasters/notesMaster1.xml" Id="R0d14b1e5247b49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c39bd8fa994230" /><Relationship Type="http://schemas.openxmlformats.org/officeDocument/2006/relationships/notesMaster" Target="/ppt/notesMasters/notesMaster1.xml" Id="R4721d4b11de046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89b174d4154541" /><Relationship Type="http://schemas.openxmlformats.org/officeDocument/2006/relationships/notesMaster" Target="/ppt/notesMasters/notesMaster1.xml" Id="R752fd20b344e4f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1e226fdfa64d5e" /><Relationship Type="http://schemas.openxmlformats.org/officeDocument/2006/relationships/notesMaster" Target="/ppt/notesMasters/notesMaster1.xml" Id="Rc0ee6a586b58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14935f94a54d94" /><Relationship Type="http://schemas.openxmlformats.org/officeDocument/2006/relationships/notesMaster" Target="/ppt/notesMasters/notesMaster1.xml" Id="R3705eccb610a4c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f81075aa0d4257" /><Relationship Type="http://schemas.openxmlformats.org/officeDocument/2006/relationships/notesMaster" Target="/ppt/notesMasters/notesMaster1.xml" Id="Re7f33b5f53284d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097c1f34bf41c8" /><Relationship Type="http://schemas.openxmlformats.org/officeDocument/2006/relationships/notesMaster" Target="/ppt/notesMasters/notesMaster1.xml" Id="Rc674efaad13149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71de6a6ce14a18" /><Relationship Type="http://schemas.openxmlformats.org/officeDocument/2006/relationships/notesMaster" Target="/ppt/notesMasters/notesMaster1.xml" Id="Rc14f05055a854b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68fce2d41a4b13" /><Relationship Type="http://schemas.openxmlformats.org/officeDocument/2006/relationships/notesMaster" Target="/ppt/notesMasters/notesMaster1.xml" Id="R4c55233b69bd40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研究对象为教室环境质量监测节点。本文件依照原开题报告五部分顺序组织；已有软件原型仅作为实施基础，不代表硬件任务已经完成。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原始毕业设计任务书与开题报告（本地保留）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国内研究现状与课题切入点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代表性国内研究提供STM32与无线网关的工程实现参考。本课题的重点选择来自任务书和场景需求，不将某篇论文未说明的功能概括为国内研究普遍缺陷。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钱平, 齐赛赛, 孙逊. 基于STM32与ESP8266室内环境监测系统的设计[J]. 无线互联科技, 2023, 20(9): 80–82+110. https://www.fx361.com/page/2023/0720/22273578.shtml</a:t>
            </a:r>
          </a:p>
          <a:p xmlns:a="http://schemas.openxmlformats.org/drawingml/2006/main">
            <a:r>
              <a:t>原开题报告第一部分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国外研究与综合分析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本页概述Barbaro等的已发表研究，再说明本课题的实施选择。原稿中“国外方案普遍成本高”等泛化表述不作为结论。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Barbaro A, Chiavassa P, Fissore V I, et al. Data Acquisition, Processing, and Aggregation in a Low-Cost IoT System for Indoor Environmental Quality Monitoring[J]. Applied Sciences, 2024, 14(10): 4021. https://doi.org/10.3390/app14104021</a:t>
            </a:r>
          </a:p>
          <a:p xmlns:a="http://schemas.openxmlformats.org/drawingml/2006/main">
            <a:r>
              <a:t>原开题报告第一部分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任务要求与拟用器件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硬件型号沿用任务书。DHT22、MH-Z19B、BH1750作为原型选型，需采购与模块资料复核；GP2Y1010具体后缀也需以实物为准。BH1750不经过STM32 ADC。MH-Z19B制造商页面标记停产，已列入可行性风险。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原始任务书开发任务</a:t>
            </a:r>
          </a:p>
          <a:p xmlns:a="http://schemas.openxmlformats.org/drawingml/2006/main">
            <a:r>
              <a:t>STMicroelectronics. STM32F103x8 / STM32F103xB Datasheet. https://www.st.com/resource/en/datasheet/stm32f103c8.pdf</a:t>
            </a:r>
          </a:p>
          <a:p xmlns:a="http://schemas.openxmlformats.org/drawingml/2006/main">
            <a:r>
              <a:t>SHARP. GP2Y1010AU0F Compact Optical Dust Sensor Datasheet. https://global.sharp/products/device/lineup/data/pdf/datasheet/gp2y1010au_e.pdf</a:t>
            </a:r>
          </a:p>
          <a:p xmlns:a="http://schemas.openxmlformats.org/drawingml/2006/main">
            <a:r>
              <a:t>Winsen. MH-Z19B NDIR CO2 Module Manual (version 1.7); manufacturer product status. https://www.winsen-sensor.com/product/mh-z19b.html</a:t>
            </a:r>
          </a:p>
          <a:p xmlns:a="http://schemas.openxmlformats.org/drawingml/2006/main">
            <a:r>
              <a:t>ROHM. BH1750FVI Technical Note (Rev. D, 2011). Manufacturer datasheet reproduction: https://www.datasheetbank.com/en/datasheet-html/190684/ROHM/10page/BH1750FVI.html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拟采用的系统方案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明确原开题报告与已确认软件路线的调整。原任务书提出第三方云平台，原报告以Flask为例；后续技术决策选择本地Node.js/Express、SQLite、REST/SSE。本方案按本地验证后接真实硬件推进，未把第三方云接入或公网部署列为已实现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Docs/技术决策记录.md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原开题报告第二部分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可行性依据与实施约束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不引用原稿“整体百元左右”或“所有工具免费开源”的未经核实判断。STM32外设依据制造商手册；MH-Z19B停产状态依据制造商页面，器件替换需要重新核对供电、引脚、输出协议与驱动。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STMicroelectronics. STM32F103x8 / STM32F103xB Datasheet. https://www.st.com/resource/en/datasheet/stm32f103c8.pdf</a:t>
            </a:r>
          </a:p>
          <a:p xmlns:a="http://schemas.openxmlformats.org/drawingml/2006/main">
            <a:r>
              <a:t>Winsen. MH-Z19B NDIR CO2 Module Manual (version 1.7); manufacturer product status. https://www.winsen-sensor.com/product/mh-z19b.html</a:t>
            </a:r>
          </a:p>
          <a:p xmlns:a="http://schemas.openxmlformats.org/drawingml/2006/main">
            <a:r>
              <a:t>原开题报告第二部分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关键问题一：采集换算与数据质量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采集、滤波与标定均为拟完成硬件工作。GP2Y1010资料用于接口和时序设计，资料的典型换算关系不能替代实物标定。未承诺未经测试的精度指标。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STMicroelectronics. STM32F103x8 / STM32F103xB Datasheet. https://www.st.com/resource/en/datasheet/stm32f103c8.pdf</a:t>
            </a:r>
          </a:p>
          <a:p xmlns:a="http://schemas.openxmlformats.org/drawingml/2006/main">
            <a:r>
              <a:t>SHARP. GP2Y1010AU0F Compact Optical Dust Sensor Datasheet. https://global.sharp/products/device/lineup/data/pdf/datasheet/gp2y1010au_e.pdf</a:t>
            </a:r>
          </a:p>
          <a:p xmlns:a="http://schemas.openxmlformats.org/drawingml/2006/main">
            <a:r>
              <a:t>Winsen. MH-Z19B NDIR CO2 Module Manual (version 1.7); manufacturer product status. https://www.winsen-sensor.com/product/mh-z19b.html</a:t>
            </a:r>
          </a:p>
          <a:p xmlns:a="http://schemas.openxmlformats.org/drawingml/2006/main">
            <a:r>
              <a:t>ROHM. BH1750FVI Technical Note (Rev. D, 2011). Manufacturer datasheet reproduction: https://www.datasheetbank.com/en/datasheet-html/190684/ROHM/10page/BH1750FVI.html</a:t>
            </a:r>
          </a:p>
          <a:p xmlns:a="http://schemas.openxmlformats.org/drawingml/2006/main">
            <a:r>
              <a:t>原开题报告第三部分问题一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关键问题二：串口、缓存与可靠上传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网络端可靠性机制有软件原型依据，串口帧、ESP8266缓存以及固件资源预算尚未实现。本页拟定错误帧、队列满与掉电验证，不表示这些硬件测试已经完成。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原开题报告第三部分问题二</a:t>
            </a:r>
          </a:p>
          <a:p xmlns:a="http://schemas.openxmlformats.org/drawingml/2006/main">
            <a:r>
              <a:t>Docs/contracts/telemetry.schema.json</a:t>
            </a:r>
          </a:p>
          <a:p xmlns:a="http://schemas.openxmlformats.org/drawingml/2006/main">
            <a:r>
              <a:t>Projects/simulator/src/node.js</a:t>
            </a:r>
          </a:p>
          <a:p xmlns:a="http://schemas.openxmlformats.org/drawingml/2006/main">
            <a:r>
              <a:t>Projects/server/src/db.js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关键问题三：Web展示与历史查询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截图为此前真实软件全链路验收截图。后端返回时间桶均值与样本数，网页展示曲线；前端没有额外加权汇总功能。接口和新鲜度处理可复用于后续真实节点。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原开题报告第三部分问题三</a:t>
            </a:r>
          </a:p>
          <a:p xmlns:a="http://schemas.openxmlformats.org/drawingml/2006/main">
            <a:r>
              <a:t>Docs/images/desktop-history.png</a:t>
            </a:r>
          </a:p>
          <a:p xmlns:a="http://schemas.openxmlformats.org/drawingml/2006/main">
            <a:r>
              <a:t>Projects/server/src/http.js</a:t>
            </a:r>
          </a:p>
          <a:p xmlns:a="http://schemas.openxmlformats.org/drawingml/2006/main">
            <a:r>
              <a:t>Projects/server/src/db.js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关键问题四：阈值与声光报警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本地报警、规则下发及离线一致性是后续硬件设计事项。软件原型的连续样本与迟滞机制作为参考。GP2Y1010不进行PM2.5达标判定，也不沿用原稿75微克每立方米作瞬时PM2.5报警依据。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GB/T 18883—2022. 室内空气质量标准. 国家标准全文公开系统. https://openstd.samr.gov.cn/bzgk/std/newGbInfo?hcno=6188E23AE55E8F557043401FC2EDC436</a:t>
            </a:r>
          </a:p>
          <a:p xmlns:a="http://schemas.openxmlformats.org/drawingml/2006/main">
            <a:r>
              <a:t>SHARP. GP2Y1010AU0F Compact Optical Dust Sensor Datasheet. https://global.sharp/products/device/lineup/data/pdf/datasheet/gp2y1010au_e.pdf</a:t>
            </a:r>
          </a:p>
          <a:p xmlns:a="http://schemas.openxmlformats.org/drawingml/2006/main">
            <a:r>
              <a:t>原开题报告第三部分问题四</a:t>
            </a:r>
          </a:p>
          <a:p xmlns:a="http://schemas.openxmlformats.org/drawingml/2006/main">
            <a:r>
              <a:t>Projects/server/src/alarms.js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资料、设备与实验条件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不假设实验室仪器已经借到，不将计划采购视为现有资产。Keil或其他开发工具以可获取授权为前提，开源库与商业工具区分表述。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原开题报告第四部分</a:t>
            </a:r>
          </a:p>
          <a:p xmlns:a="http://schemas.openxmlformats.org/drawingml/2006/main">
            <a:r>
              <a:t>STMicroelectronics. STM32F103x8 / STM32F103xB Datasheet. https://www.st.com/resource/en/datasheet/stm32f103c8.pdf</a:t>
            </a:r>
          </a:p>
          <a:p xmlns:a="http://schemas.openxmlformats.org/drawingml/2006/main">
            <a:r>
              <a:t>SHARP. GP2Y1010AU0F Compact Optical Dust Sensor Datasheet. https://global.sharp/products/device/lineup/data/pdf/datasheet/gp2y1010au_e.pdf</a:t>
            </a:r>
          </a:p>
          <a:p xmlns:a="http://schemas.openxmlformats.org/drawingml/2006/main">
            <a:r>
              <a:t>Winsen. MH-Z19B NDIR CO2 Module Manual (version 1.7); manufacturer product status. https://www.winsen-sensor.com/product/mh-z19b.html</a:t>
            </a:r>
          </a:p>
          <a:p xmlns:a="http://schemas.openxmlformats.org/drawingml/2006/main">
            <a:r>
              <a:t>ROHM. BH1750FVI Technical Note (Rev. D, 2011). Manufacturer datasheet reproduction: https://www.datasheetbank.com/en/datasheet-html/190684/ROHM/10page/BH1750FVI.html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总体工作方案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顺序对应原报告第五部分三层方案与工作思路。服务端已有软件原型不改变硬件和驱动待完成的状态。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原开题报告第五部分</a:t>
            </a:r>
          </a:p>
          <a:p xmlns:a="http://schemas.openxmlformats.org/drawingml/2006/main">
            <a:r>
              <a:t>Docs/技术决策记录.md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已有软件基础与后续衔接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本页仅解释现有前期基础，避免把开题材料写为软件终期答辩。截图来自真实软件全链路但采样为虚拟节点，不是实体硬件实验。初版软件主要由AI协作完成。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Docs/images/desktop-live.png</a:t>
            </a:r>
          </a:p>
          <a:p xmlns:a="http://schemas.openxmlformats.org/drawingml/2006/main">
            <a:r>
              <a:t>Docs/三端联调验收记录.md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进度计划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原任务书工作计划8项，原学期周次原样保留，不映射成未经确认的公历日期。第7学期19–21周原文的云平台与Web，按当前路线落实为自建服务和Web接入。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原始任务书工作计划（8项）</a:t>
            </a:r>
          </a:p>
          <a:p xmlns:a="http://schemas.openxmlformats.org/drawingml/2006/main">
            <a:r>
              <a:t>原开题报告第五部分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预期成果与验证安排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这是工作方案中的预期产出与验证计划，不是已完成验收结果。未预设未经BOM和器件规格确认的精度、功耗或24小时稳定性结果。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原始任务书功能实现要求</a:t>
            </a:r>
          </a:p>
          <a:p xmlns:a="http://schemas.openxmlformats.org/drawingml/2006/main">
            <a:r>
              <a:t>原开题报告第四、第五部分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研究文献与标准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参考文献以可核对的原文与标准目录为依据。正文只对已查阅的代表性研究做归纳，未照搬原附件所有题录。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钱平, 齐赛赛, 孙逊. 基于STM32与ESP8266室内环境监测系统的设计[J]. 无线互联科技, 2023, 20(9): 80–82+110. https://www.fx361.com/page/2023/0720/22273578.shtml</a:t>
            </a:r>
          </a:p>
          <a:p xmlns:a="http://schemas.openxmlformats.org/drawingml/2006/main">
            <a:r>
              <a:t>Barbaro A, Chiavassa P, Fissore V I, et al. Data Acquisition, Processing, and Aggregation in a Low-Cost IoT System for Indoor Environmental Quality Monitoring[J]. Applied Sciences, 2024, 14(10): 4021. https://doi.org/10.3390/app14104021</a:t>
            </a:r>
          </a:p>
          <a:p xmlns:a="http://schemas.openxmlformats.org/drawingml/2006/main">
            <a:r>
              <a:t>GB/T 18883—2022. 室内空气质量标准. 国家标准全文公开系统. https://openstd.samr.gov.cn/bzgk/std/newGbInfo?hcno=6188E23AE55E8F557043401FC2EDC436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器件与接口资料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本页列出器件原厂资料。BH1750公开页面为ROHM原始手册的镜像，内容来源仍为原厂手册；具体模块引脚与电路以实物核对。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STMicroelectronics. STM32F103x8 / STM32F103xB Datasheet. https://www.st.com/resource/en/datasheet/stm32f103c8.pdf</a:t>
            </a:r>
          </a:p>
          <a:p xmlns:a="http://schemas.openxmlformats.org/drawingml/2006/main">
            <a:r>
              <a:t>SHARP. GP2Y1010AU0F Compact Optical Dust Sensor Datasheet. https://global.sharp/products/device/lineup/data/pdf/datasheet/gp2y1010au_e.pdf</a:t>
            </a:r>
          </a:p>
          <a:p xmlns:a="http://schemas.openxmlformats.org/drawingml/2006/main">
            <a:r>
              <a:t>Winsen. MH-Z19B NDIR CO2 Module Manual (version 1.7); manufacturer product status. https://www.winsen-sensor.com/product/mh-z19b.html</a:t>
            </a:r>
          </a:p>
          <a:p xmlns:a="http://schemas.openxmlformats.org/drawingml/2006/main">
            <a:r>
              <a:t>ROHM. BH1750FVI Technical Note (Rev. D, 2011). Manufacturer datasheet reproduction: https://www.datasheetbank.com/en/datasheet-html/190684/ROHM/10page/BH1750FVI.html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df154c657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70ff7fa8c4c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1e21cf0794c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473a6f20048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b012025da4b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fb9e6128d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EF26FD-AE6E-4761-8741-CEE0AFF55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B6AD94-5655-4C61-AE68-EB546C1BAB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DD3E07-D119-43D3-9CC3-968A2E2D6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3DD587-7727-432B-B8F1-A9C035E62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EC6780-5265-45C4-B9D7-A18F69941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73164-2FB6-4546-9B58-7385B2000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5336EE-0327-4158-8EBB-B8393E04D1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6F6BD3-D62C-4B56-A063-A557AE70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0F9D88-BAFC-4AA5-8BFD-677761B87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91310-89D2-4058-8F7E-16ADFD7458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a629b0ec17451a" /><Relationship Type="http://schemas.openxmlformats.org/officeDocument/2006/relationships/slideLayout" Target="/ppt/slideLayouts/slideLayout1.xml" Id="R0b2a8a5838b94572" /><Relationship Type="http://schemas.openxmlformats.org/officeDocument/2006/relationships/slideLayout" Target="/ppt/slideLayouts/slideLayout2.xml" Id="R2117e11961b04b36" /><Relationship Type="http://schemas.openxmlformats.org/officeDocument/2006/relationships/slideLayout" Target="/ppt/slideLayouts/slideLayout3.xml" Id="R673d4f467b9b4f4c" /><Relationship Type="http://schemas.openxmlformats.org/officeDocument/2006/relationships/slideLayout" Target="/ppt/slideLayouts/slideLayout4.xml" Id="R1a845080f31a42d5" /><Relationship Type="http://schemas.openxmlformats.org/officeDocument/2006/relationships/slideLayout" Target="/ppt/slideLayouts/slideLayout5.xml" Id="Rbb6e67ba0aad4b61" /><Relationship Type="http://schemas.openxmlformats.org/officeDocument/2006/relationships/slideLayout" Target="/ppt/slideLayouts/slideLayout6.xml" Id="R9a41d05aa0ae46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a8a5838b94572"/>
    <p:sldLayoutId xmlns:r="http://schemas.openxmlformats.org/officeDocument/2006/relationships" id="2147483650" r:id="R2117e11961b04b36"/>
    <p:sldLayoutId xmlns:r="http://schemas.openxmlformats.org/officeDocument/2006/relationships" id="2147483651" r:id="R673d4f467b9b4f4c"/>
    <p:sldLayoutId xmlns:r="http://schemas.openxmlformats.org/officeDocument/2006/relationships" id="2147483652" r:id="R1a845080f31a42d5"/>
    <p:sldLayoutId xmlns:r="http://schemas.openxmlformats.org/officeDocument/2006/relationships" id="2147483653" r:id="Rbb6e67ba0aad4b61"/>
    <p:sldLayoutId xmlns:r="http://schemas.openxmlformats.org/officeDocument/2006/relationships" id="2147483654" r:id="R9a41d05aa0ae46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eb7c60a954beb" /><Relationship Type="http://schemas.openxmlformats.org/officeDocument/2006/relationships/notesSlide" Target="/ppt/notesSlides/notesSlide1.xml" Id="R48074dac0bc0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b862873ac439e" /><Relationship Type="http://schemas.openxmlformats.org/officeDocument/2006/relationships/notesSlide" Target="/ppt/notesSlides/notesSlide2.xml" Id="R6d188595a89c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0173f55d44ab2" /><Relationship Type="http://schemas.openxmlformats.org/officeDocument/2006/relationships/notesSlide" Target="/ppt/notesSlides/notesSlide3.xml" Id="R3cde1e63d1f54b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46ee112354b97" /><Relationship Type="http://schemas.openxmlformats.org/officeDocument/2006/relationships/notesSlide" Target="/ppt/notesSlides/notesSlide4.xml" Id="Re21826b4b533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3d85572be4923" /><Relationship Type="http://schemas.openxmlformats.org/officeDocument/2006/relationships/notesSlide" Target="/ppt/notesSlides/notesSlide5.xml" Id="Rb3257b170695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955de971447ff" /><Relationship Type="http://schemas.openxmlformats.org/officeDocument/2006/relationships/notesSlide" Target="/ppt/notesSlides/notesSlide6.xml" Id="Ra8b2fdf68fe8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952d3ea5f4b85" /><Relationship Type="http://schemas.openxmlformats.org/officeDocument/2006/relationships/notesSlide" Target="/ppt/notesSlides/notesSlide7.xml" Id="Rbb89e22a267844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0ddebed364df7" /><Relationship Type="http://schemas.openxmlformats.org/officeDocument/2006/relationships/notesSlide" Target="/ppt/notesSlides/notesSlide8.xml" Id="Rc12be678878548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c5597504e47ad" /><Relationship Type="http://schemas.openxmlformats.org/officeDocument/2006/relationships/image" Target="/ppt/media/image.png" Id="Rdea9966710a34160" /><Relationship Type="http://schemas.openxmlformats.org/officeDocument/2006/relationships/notesSlide" Target="/ppt/notesSlides/notesSlide9.xml" Id="R0f7856d0160341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0c004588a4bd4" /><Relationship Type="http://schemas.openxmlformats.org/officeDocument/2006/relationships/notesSlide" Target="/ppt/notesSlides/notesSlide10.xml" Id="Rb79c9807abce44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05a9d56c3480f" /><Relationship Type="http://schemas.openxmlformats.org/officeDocument/2006/relationships/notesSlide" Target="/ppt/notesSlides/notesSlide11.xml" Id="Rd04508f9c13649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8bfc8a8bc4420" /><Relationship Type="http://schemas.openxmlformats.org/officeDocument/2006/relationships/notesSlide" Target="/ppt/notesSlides/notesSlide12.xml" Id="R95785be8be0947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18cdbe36a4e1d" /><Relationship Type="http://schemas.openxmlformats.org/officeDocument/2006/relationships/image" Target="/ppt/media/image2.png" Id="R0e0738658ae04c7f" /><Relationship Type="http://schemas.openxmlformats.org/officeDocument/2006/relationships/notesSlide" Target="/ppt/notesSlides/notesSlide13.xml" Id="Re5931c2856cc43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b3c89f797402e" /><Relationship Type="http://schemas.openxmlformats.org/officeDocument/2006/relationships/notesSlide" Target="/ppt/notesSlides/notesSlide14.xml" Id="Rf8877eca78c543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476f781a44df2" /><Relationship Type="http://schemas.openxmlformats.org/officeDocument/2006/relationships/notesSlide" Target="/ppt/notesSlides/notesSlide15.xml" Id="R0756b133a3494b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e4414b16445d7" /><Relationship Type="http://schemas.openxmlformats.org/officeDocument/2006/relationships/notesSlide" Target="/ppt/notesSlides/notesSlide16.xml" Id="Rc36fbf9fd00a41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1a3d863ea4517" /><Relationship Type="http://schemas.openxmlformats.org/officeDocument/2006/relationships/notesSlide" Target="/ppt/notesSlides/notesSlide17.xml" Id="Rc216569153104f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64EB1A6-E1F6-40F0-8EB2-7051BA4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200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重庆机电职业技术大学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BD4933-6626-46D0-888E-45B39B7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5732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毕业设计开题答辩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A12F38-9099-4C74-A8E8-2667FB5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1341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教室环境质量监测节点</a:t>
            </a:r>
          </a:p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56D483-DA26-4239-912C-1F67581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91225"/>
            <a:ext cx="1323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信息工程学院    物联网工程技术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4F102EB-E476-4F8F-960E-847CE38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00875"/>
            <a:ext cx="1323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杨自生    指导教师：张醒</a:t>
            </a:r>
          </a:p>
        </p:txBody>
      </p:sp>
    </p:spTree>
    <p:extLst>
      <p:ext uri="{BB962C8B-B14F-4D97-AF65-F5344CB8AC3E}">
        <p14:creationId xmlns:p14="http://schemas.microsoft.com/office/powerpoint/2010/main" val="891879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318208F2-1B57-4564-A5AE-AE8689BD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一、国内外研究现状分析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EC97E55-F41B-412E-A84D-906E916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国内研究现状与课题切入点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14D439-8A00-4BC4-96E1-0EE816E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面向教室的节点设计，需要同时考虑多参数采集和完整数据链路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9C89A4-90BB-4EB7-BAD9-7C5C4353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221500-26B3-4661-85BF-B4DADA10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460DD35-F428-4E22-BF28-6E10E379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1940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已有研究基础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8E8E8B-EAE6-4A20-AA49-D274FBE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29000"/>
            <a:ext cx="1214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钱平等（2023）将 STM32 与 ESP8266 结合，完成环境采集、云端传输和小程序交互，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说明微控制器与无线网关组合可支撑室内监测应用。[1]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FD2C98-115F-436A-A9E1-B022A80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AEF4057-738B-48AB-84BC-E6AE36E1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7677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本课题借鉴的结构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B4D017B-A239-482F-8901-1E417E94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1214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沿用感知层、传输层、应用层的分层思路，组合温湿度、CO₂、粉尘估算值与光照。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07A1148-C4E7-49FA-A443-BF1A80A6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1030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2D03C90-A1F3-4653-BA4F-A4A4982D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21030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本课题重点验证的问题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1BF58FC-2D5C-4194-9FCC-1E3C836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819900"/>
            <a:ext cx="12144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重点考察采样换算、断线后的缓存补传、历史查询与报警联动，形成可复现的实验记录。</a:t>
            </a:r>
          </a:p>
        </p:txBody>
      </p:sp>
    </p:spTree>
    <p:extLst>
      <p:ext uri="{BB962C8B-B14F-4D97-AF65-F5344CB8AC3E}">
        <p14:creationId xmlns:p14="http://schemas.microsoft.com/office/powerpoint/2010/main" val="131927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5115A67A-FE75-44D3-98D4-77D6EE5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一、国内外研究现状分析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429821-02F5-4E93-B50D-44E3293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国外研究与综合分析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FAF78D-E976-429D-A75B-261CEC8C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研究对象已覆盖节点采集、服务端处理和面向使用者的数据展示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8ACB52-F993-4F09-81FC-6B983D31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8D34ED-09C3-47C3-9329-5FC7F3D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代表研究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38CA934-DE07-4B9B-AE22-0D0F4BAF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314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Barbaro 等（2024）提出低成本室内环境监测系统，研究节点数据预处理、</a:t>
            </a:r>
          </a:p>
          <a:p xmlns:a="http://schemas.openxmlformats.org/drawingml/2006/main">
            <a: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MQTT 数据接收、数据库聚合与仪表盘展示。[2]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30DC8F-EC0E-4F27-8AE8-B7E9CCF9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对本课题的启示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E76BC38-E21F-47E0-9597-5ABDB9EF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1314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分开设计采样周期与上传行为，保留数据的时间和质量信息。</a:t>
            </a:r>
          </a:p>
          <a:p xmlns:a="http://schemas.openxmlformats.org/drawingml/2006/main">
            <a:pPr algn="l">
              <a:def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将节点、网络服务和界面分层验证，再完成真实硬件联调。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758FE72-7CFF-406C-BA7A-700B381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综合定位：教室单节点原型，优先完成采集、可靠上传、查询与报警的可验证闭环</a:t>
            </a:r>
          </a:p>
        </p:txBody>
      </p:sp>
    </p:spTree>
    <p:extLst>
      <p:ext uri="{BB962C8B-B14F-4D97-AF65-F5344CB8AC3E}">
        <p14:creationId xmlns:p14="http://schemas.microsoft.com/office/powerpoint/2010/main" val="1696717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B9D5A7E-235D-4AD4-9A64-62C132B7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二、任务要求及实现目标的可行性分析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B01D5D-30D4-4FB5-B997-B8E5ADE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任务要求与拟用器件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3652CE5-1730-4BCB-8CA2-2B37F51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STM32F103C8T6 为采集主控，ESP8266 为 Wi-Fi 网关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B8BED0-7212-4755-9B0E-58C6763B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0C04-970B-4D5A-96B6-986CE23995AA}"/>
              </a:ext>
            </a:extLst>
          </p:cNvPr>
          <p:cNvGraphicFramePr/>
          <p:nvPr/>
        </p:nvGraphicFramePr>
        <p:xfrm>
          <a:off xmlns:a="http://schemas.openxmlformats.org/drawingml/2006/main" x="933450" y="2762250"/>
          <a:ext xmlns:a="http://schemas.openxmlformats.org/drawingml/2006/main" cx="133731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572000"/>
                <a:gridCol w="4895850"/>
              </a:tblGrid>
              <a:tr h="698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监测对象 / 功能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拟用器件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接口与研究任务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温度、相对湿度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DHT22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数字单总线，读取并校验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二氧化碳浓度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MH-Z19B（原任务书选型）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UART，核对型号与预热要求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粉尘浓度估算值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GP2Y1010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模拟输出，ADC 采样与标定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光照强度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BH1750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I²C 数字读取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本地与网页提示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LED、有源蜂鸣器、Web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 控制与网页状态联动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174DE1D-A9AC-4646-AA3F-156C7206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五项环境指标；GP2Y1010 使用粉尘估算口径，不直接作为 PM2.5 测量结果</a:t>
            </a:r>
          </a:p>
        </p:txBody>
      </p:sp>
    </p:spTree>
    <p:extLst>
      <p:ext uri="{BB962C8B-B14F-4D97-AF65-F5344CB8AC3E}">
        <p14:creationId xmlns:p14="http://schemas.microsoft.com/office/powerpoint/2010/main" val="822513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0A8F975-358D-433F-AA5F-B0AB6717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二、任务要求及实现目标的可行性分析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540DD70-321B-46CA-8DC7-56FAF2F0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拟采用的系统方案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ADB844-A72D-4DA7-98A8-2A82F218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首阶段使用本地自建服务，后续再验证局域网硬件接入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F4A64D-B6A1-4F33-8DD3-C88A67C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83CAD-7E8C-4743-8246-966A2427821E}"/>
              </a:ext>
            </a:extLst>
          </p:cNvPr>
          <p:cNvGraphicFramePr/>
          <p:nvPr/>
        </p:nvGraphicFramePr>
        <p:xfrm>
          <a:off xmlns:a="http://schemas.openxmlformats.org/drawingml/2006/main" x="933450" y="2762250"/>
          <a:ext xmlns:a="http://schemas.openxmlformats.org/drawingml/2006/main" cx="13373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810250"/>
                <a:gridCol w="5086350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拟实现内容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现有基础与待完成事项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感知层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 驱动、ADC 换算、滤波、状态采集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真实传感器驱动与接线待完成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传输层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UART 帧、ESP8266 Wi-Fi、MQTT 上传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网络协议已有原型，硬件适配待完成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应用层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Node.js / Express、SQLite、React / ECharts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已有本机软件 MVP，可用于联调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交互方式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REST 查询与设置，SSE 实时推送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与现有软件接口保持一致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204A95B-0F3F-41DA-A340-03CA33F1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58050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相较原稿，后端与部署路线调整为本地自建服务，后续再评估云端接入</a:t>
            </a:r>
          </a:p>
        </p:txBody>
      </p:sp>
    </p:spTree>
    <p:extLst>
      <p:ext uri="{BB962C8B-B14F-4D97-AF65-F5344CB8AC3E}">
        <p14:creationId xmlns:p14="http://schemas.microsoft.com/office/powerpoint/2010/main" val="768559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BEAFED2-675F-48CB-A40C-A342C53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二、任务要求及实现目标的可行性分析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4C5F56-8ABA-4FB9-A376-1352156D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可行性依据与实施约束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2126AAD-D4FC-450C-A341-EB42568F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分别核对技术、成本、场景与验证条件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A97142-AD1E-4858-BD42-00CD1990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02B08-9E93-4C49-8C02-7EADCAC1C21A}"/>
              </a:ext>
            </a:extLst>
          </p:cNvPr>
          <p:cNvGraphicFramePr/>
          <p:nvPr/>
        </p:nvGraphicFramePr>
        <p:xfrm>
          <a:off xmlns:a="http://schemas.openxmlformats.org/drawingml/2006/main" x="933450" y="2752725"/>
          <a:ext xmlns:a="http://schemas.openxmlformats.org/drawingml/2006/main" cx="13373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715000"/>
                <a:gridCol w="5467350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可行性依据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约束与解决办法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 提供 ADC、USART、I²C 等外设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分模块驱动调试后再整机集成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优先使用现成核心板与成熟模块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 BOM 后核价，不预报未经核算成本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面向教室 / 办公室，拟采用 USB / 市电供电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核对供电、电平、位置与环境干扰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软件原型已具备接收、查询与故障验证入口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仪器借用及硬件精度需实际验证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5D21BF4-F044-4F7E-873A-6FE54DD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3900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rPr>
              <a:t>器件风险：MH-Z19B 厂商已标记停产，采购前核对现有模块或兼容替代型号。[6]</a:t>
            </a:r>
          </a:p>
        </p:txBody>
      </p:sp>
    </p:spTree>
    <p:extLst>
      <p:ext uri="{BB962C8B-B14F-4D97-AF65-F5344CB8AC3E}">
        <p14:creationId xmlns:p14="http://schemas.microsoft.com/office/powerpoint/2010/main" val="1370419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43B9A9E-00C7-4963-8AF7-E9A12B00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三、关键问题及解决思路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250C3D-6D23-4264-9507-3CE4DF3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关键问题一：采集换算与数据质量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CBC0B9-68D3-4CC3-9CAC-BA98AE0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拟解决模拟采样误差、数字协议解析和异常值处理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BC3CDF-777B-4E2B-B31E-750E116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0287A9-CC2B-45B6-AF5A-E10BEE47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945CD88-2DA6-4A61-BEF2-4355DDF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5272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粉尘模拟信号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A2D532-7DEE-4045-A6F0-208AFBF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62325"/>
            <a:ext cx="1214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按 GP2Y1010 手册安排驱动与采样时序，核对输出电压和 ADC 输入范围；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测量空白基线，结合参考设备进行浓度估算标定。[5]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BA90448-CE61-4D98-83D1-A5C9BC9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24C6D30-1AC9-44F8-A1FC-5CA1910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数字传感器读取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D9D669-1A4D-4860-8736-32BD8106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81600"/>
            <a:ext cx="1214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DHT22 按协议校验，CO₂ 通过 UART 解析，BH1750 通过 I²C 读取。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统一量纲与有效状态，缺测不补成正常值。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E8B3135-1EB3-4DE6-8053-673A1A4D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91275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595DF1C-0116-4009-90C6-383BA523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39127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滤波与验证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2FCD147-5B4F-45F4-B9C6-270A9F64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000875"/>
            <a:ext cx="1214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拟比较原始值与平均 / 中值滤波结果，在多个工况下记录波动与误差，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结合参考仪器决定最终参数。</a:t>
            </a:r>
          </a:p>
        </p:txBody>
      </p:sp>
    </p:spTree>
    <p:extLst>
      <p:ext uri="{BB962C8B-B14F-4D97-AF65-F5344CB8AC3E}">
        <p14:creationId xmlns:p14="http://schemas.microsoft.com/office/powerpoint/2010/main" val="916472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307DE20-65D0-44E0-BDCA-FC7865E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三、关键问题及解决思路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3DAAB7-89A6-4717-96B6-06E5D4B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关键问题二：串口、缓存与可靠上传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E748A4-8769-46D0-8F19-D105718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区分 STM32 至网关的串口链路和网关至服务端的网络链路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66EE18-0763-41EC-9126-FE68823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A9731-35CC-4503-A7E1-9E55101A59E0}"/>
              </a:ext>
            </a:extLst>
          </p:cNvPr>
          <p:cNvGraphicFramePr/>
          <p:nvPr/>
        </p:nvGraphicFramePr>
        <p:xfrm>
          <a:off xmlns:a="http://schemas.openxmlformats.org/drawingml/2006/main" x="933450" y="2800350"/>
          <a:ext xmlns:a="http://schemas.openxmlformats.org/drawingml/2006/main" cx="13373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6334125"/>
                <a:gridCol w="4086225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拟采用方法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 至 ESP8266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设计帧边界、序号、数据区和校验；设置解析超时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注入截断帧、错校验、粘连帧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网关缓存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先缓存再发送；确认后删除；容量与写入策略单独评估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断网积压、满队列、断电 / 重启测试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 上传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 QoS 1 与事务后应用 ACK，超时原文重发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 ACK、重复投递、恢复后补传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服务端入库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设备、启动批次、序号组成幂等键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同消息重试仅保存一条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AC399A7-75F6-42A1-BE88-71EF0289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SQLite outbox 已用于 PC 虚拟节点；ESP8266 缓存实现需另行适配，不能直接照搬</a:t>
            </a:r>
          </a:p>
        </p:txBody>
      </p:sp>
    </p:spTree>
    <p:extLst>
      <p:ext uri="{BB962C8B-B14F-4D97-AF65-F5344CB8AC3E}">
        <p14:creationId xmlns:p14="http://schemas.microsoft.com/office/powerpoint/2010/main" val="893744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2B859B8-29DE-4A26-8323-E043CAC5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三、关键问题及解决思路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65954C-4000-4FC2-A1BD-106DF423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关键问题三：Web 展示与历史查询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9C9570-2271-410A-BB52-2598B17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复用已有应用层接口，后续将虚拟数据源替换为真实节点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1890EE-4787-4A8A-925A-0E5DABD8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F58E3-C92D-450F-9F7C-5F1BCE095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9966710a34160"/>
          <a:srcRect xmlns:a="http://schemas.openxmlformats.org/drawingml/2006/main" l="2000" t="10000" r="2000" b="10000"/>
          <a:stretch xmlns:a="http://schemas.openxmlformats.org/drawingml/2006/main"/>
        </p:blipFill>
        <p:spPr>
          <a:xfrm xmlns:a="http://schemas.openxmlformats.org/drawingml/2006/main">
            <a:off x="933450" y="2790825"/>
            <a:ext cx="8763000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6DED9F6-101D-437A-9C76-34375420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实时信息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0E90D73-5839-4434-AA80-489DAD9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997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REST 获取快照，</a:t>
            </a:r>
          </a:p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SSE 接收实时变化。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F886A31-FAB9-4D9F-9296-ADBB9268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530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1A57F65-8370-4E3C-BA9F-937A4049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4095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按时间范围查询，</a:t>
            </a:r>
          </a:p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展示时间桶均值曲线。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3EDF027-6AE8-4E75-9B2F-5E8EE63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软件原型截图使用虚拟节点短时数据；真实硬件采集与长期曲线待联调验证</a:t>
            </a:r>
          </a:p>
        </p:txBody>
      </p:sp>
    </p:spTree>
    <p:extLst>
      <p:ext uri="{BB962C8B-B14F-4D97-AF65-F5344CB8AC3E}">
        <p14:creationId xmlns:p14="http://schemas.microsoft.com/office/powerpoint/2010/main" val="431749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1C73B8D2-C063-4D6B-891E-952B2C3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三、关键问题及解决思路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80EB6F-D8EB-4C3A-B61C-AC1935E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关键问题四：阈值与声光报警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5E1661-D06C-4A70-99A9-5F8E336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拟通过连续样本确认与迟滞恢复，减少阈值附近反复启停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21745A-4BB6-48C8-9C9A-9423980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9371D7-1DFE-4320-9627-FB86F6F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EE34E6-3028-4170-8DF8-1ECB8408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5272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阈值口径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C968B9C-4FE7-4C49-8094-902F102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62325"/>
            <a:ext cx="12144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参考 GB/T 18883—2022 对应指标与评价时段，结合传感器能力确定规则。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演示瞬时阈值不直接用于空气质量达标判定。[3]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69AB295-B05F-4709-A464-5AD3745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AEF08B3-6CA2-42AC-8778-D6A37474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9105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双端提示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FD04331-9917-4F72-9332-E122D0C0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00650"/>
            <a:ext cx="1214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计划在 STM32 节点控制 LED 与有源蜂鸣器，同时向网页展示当前异常。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本地提示与联网状态分别处理，网络中断时仍需本地判断。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B7DA404-D62A-4FF4-BA48-A926B984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29375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B5675E3-F47C-44C3-89B9-B78C28D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429375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B6370CF-57B6-4D7B-9419-22203DC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038975"/>
            <a:ext cx="1214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分别测试持续超限、阈值附近波动、恢复与缺测。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现有网页报警已具备软件原型，本地声光报警及阈值同步待实现。</a:t>
            </a:r>
          </a:p>
        </p:txBody>
      </p:sp>
    </p:spTree>
    <p:extLst>
      <p:ext uri="{BB962C8B-B14F-4D97-AF65-F5344CB8AC3E}">
        <p14:creationId xmlns:p14="http://schemas.microsoft.com/office/powerpoint/2010/main" val="128359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E66D8C7-5253-4186-B681-C3CD720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四、工作条件及解决办法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E35E71-BA93-4C69-ADCE-0915869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资料、设备与实验条件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D1E264-8D5F-42DC-B8BB-55BFD754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已有计算机与软件基础，硬件和测量条件按清单落实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2239DB-96A7-43D2-812B-8779212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37A4E-7A0A-4DFF-91FF-D04238209A7F}"/>
              </a:ext>
            </a:extLst>
          </p:cNvPr>
          <p:cNvGraphicFramePr/>
          <p:nvPr/>
        </p:nvGraphicFramePr>
        <p:xfrm>
          <a:off xmlns:a="http://schemas.openxmlformats.org/drawingml/2006/main" x="933450" y="2771775"/>
          <a:ext xmlns:a="http://schemas.openxmlformats.org/drawingml/2006/main" cx="13373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6000750"/>
                <a:gridCol w="4705350"/>
              </a:tblGrid>
              <a:tr h="819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工作条件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所需内容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落实办法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资料与工具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STM32、传感器手册，标准与相关论文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厂商文档、图书馆与论文数据库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硬件与仪器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核心板、传感器、网关、报警元件；万用表、示波器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器件核型后采购，仪器向实验室借用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软件环境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/ STM32 开发工具、串口调试；Node.js 与浏览器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核对开发工具授权，先复现软件 MVP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测量与联调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参考仪器、固定测点、串口和 Wi-Fi 测试环境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确认仪器可用性，记录工况和测试步骤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9D9ADB5-3406-4C5E-AB42-4E215BC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尚未落实的参考仪器与硬件采购是实施依赖，需在采集调试阶段前确认</a:t>
            </a:r>
          </a:p>
        </p:txBody>
      </p:sp>
    </p:spTree>
    <p:extLst>
      <p:ext uri="{BB962C8B-B14F-4D97-AF65-F5344CB8AC3E}">
        <p14:creationId xmlns:p14="http://schemas.microsoft.com/office/powerpoint/2010/main" val="358852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B486A17-5E7D-4707-BFEB-70B85914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五、工作方案分析及进度计划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C211CC-9486-45AB-852B-F5FA3227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总体工作方案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678378-C9BD-4B20-8381-B646DED0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分模块完成采集与传输，再进行服务端与网页联调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0164FA8-1487-4651-BCDE-1A05AFB2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E9BC0CD-2853-41A8-A2FC-F70FC76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E85CAF5-17F8-4F25-BA5D-840198F0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感知层原型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DA91414-BB4B-47AF-B95E-6E7DBEEC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33750"/>
            <a:ext cx="1214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搭建 STM32 供电与各传感器连接，完成驱动、ADC 换算和滤波；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形成单传感器记录后，再组合五项指标。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30BB0C4-5530-4CC2-B651-749CB2BD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8CC1E74-7FDF-4611-B117-8D53227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5295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传输与应用集成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C5EBAB6-A88E-4F4C-BCB0-05574ECB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62550"/>
            <a:ext cx="1214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实现 STM32 串口帧与 ESP8266 网关适配，映射到统一 MQTT JSON 协议；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接入现有服务、存储和 Web 界面。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0E873D0-47E9-48C6-8346-BDDB25C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71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06CBF29-7744-4E14-A37A-D685801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381750"/>
            <a:ext cx="1228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完整系统验证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12A7072-B05D-4D7C-A3F7-0938CC4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991350"/>
            <a:ext cx="1214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补齐 LED / 蜂鸣器、本地阈值与离线策略；开展精度对照、故障注入和场景测试，</a:t>
            </a:r>
          </a:p>
          <a:p xmlns:a="http://schemas.openxmlformats.org/drawingml/2006/main">
            <a:pPr algn="l">
              <a:def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整理数据后完成论文与答辩材料。</a:t>
            </a:r>
          </a:p>
        </p:txBody>
      </p:sp>
    </p:spTree>
    <p:extLst>
      <p:ext uri="{BB962C8B-B14F-4D97-AF65-F5344CB8AC3E}">
        <p14:creationId xmlns:p14="http://schemas.microsoft.com/office/powerpoint/2010/main" val="3258209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AD8340A-CCED-4180-B8EB-0AE36716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五、工作方案分析及进度计划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29F34F-9383-4251-AC02-01391CA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已有软件基础与后续衔接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8F0CE2-2AC9-4979-BA4C-0C9A7CB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当前软件 MVP 可用于协议调试，硬件接入仍是后续主要工作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983F7F-4B7F-493B-8264-9031403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A4DAA-ED01-455E-9863-343DBB355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738658ae04c7f"/>
          <a:srcRect xmlns:a="http://schemas.openxmlformats.org/drawingml/2006/main" l="2500" t="14000" r="2500" b="52000"/>
          <a:stretch xmlns:a="http://schemas.openxmlformats.org/drawingml/2006/main"/>
        </p:blipFill>
        <p:spPr>
          <a:xfrm xmlns:a="http://schemas.openxmlformats.org/drawingml/2006/main">
            <a:off x="933450" y="2752725"/>
            <a:ext cx="13373100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A6F4873-71DA-47C7-96CD-2583010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48475"/>
            <a:ext cx="1333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已有基础：虚拟节点、MQTT、SQLite、实时 / 历史页面、网页报警与恢复机制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269393F-C560-4B56-A310-653A280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待完成：真实采集、UART 网关、固件缓存、声光报警、精度与长期稳定性实验</a:t>
            </a:r>
          </a:p>
        </p:txBody>
      </p:sp>
    </p:spTree>
    <p:extLst>
      <p:ext uri="{BB962C8B-B14F-4D97-AF65-F5344CB8AC3E}">
        <p14:creationId xmlns:p14="http://schemas.microsoft.com/office/powerpoint/2010/main" val="7531738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7836EC3-F9F0-4D5D-A31C-63DCD0B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五、工作方案分析及进度计划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FAF4B6-93EF-4083-9B1E-EDF34CF3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进度计划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07C357-9A83-4192-96FF-BF3464F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沿用任务书学期周次，具体日期按学院教学安排执行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50973A-690A-4826-89D7-F6B8AAA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A6C4-D622-402B-884A-AC245683038D}"/>
              </a:ext>
            </a:extLst>
          </p:cNvPr>
          <p:cNvGraphicFramePr/>
          <p:nvPr/>
        </p:nvGraphicFramePr>
        <p:xfrm>
          <a:off xmlns:a="http://schemas.openxmlformats.org/drawingml/2006/main" x="933450" y="2667000"/>
          <a:ext xmlns:a="http://schemas.openxmlformats.org/drawingml/2006/main" cx="133731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6191250"/>
                <a:gridCol w="3705225"/>
              </a:tblGrid>
              <a:tr h="5132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起止周次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工作内容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阶段产出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第7学期 第3–5周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选题与研究对象确认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题目及需求范围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第7学期 第6–11周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任务书、文献与开题报告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开题报告与 PPT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第7学期 第12–15周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硬件搭建、传感器驱动、ADC 调试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采样与误差记录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第7学期 第16–18周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串口、网关、缓存与补传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链路与恢复记录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第7学期 第19–21周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/ Web 接入与系统联调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完整原型与测试报告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第8学期 第1–2周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论文定稿、查重与修订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论文终稿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第8学期 第3–4周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整理材料并准备毕业答辩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答辩材料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第8学期 第5–6周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毕业答辩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完成答辩与归档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90695EB-8E81-4963-AF3F-5413106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软件原型已提前完成部分验证；任务安排仍按正式任务书推进，不据此宣称硬件完成</a:t>
            </a:r>
          </a:p>
        </p:txBody>
      </p:sp>
    </p:spTree>
    <p:extLst>
      <p:ext uri="{BB962C8B-B14F-4D97-AF65-F5344CB8AC3E}">
        <p14:creationId xmlns:p14="http://schemas.microsoft.com/office/powerpoint/2010/main" val="1372838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910F7C0-566B-447D-860B-E755E25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五、工作方案分析及进度计划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A99CE32-FC81-40AF-8D42-D8865A9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预期成果与验证安排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BE7874-E453-4D4D-9DC2-087A71CE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形成可演示的实体节点，并以原始记录支撑结论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0274DF0-B52C-4E18-AD50-0851B036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E8F6F-32BA-4CD3-A3E5-1822BC101F5A}"/>
              </a:ext>
            </a:extLst>
          </p:cNvPr>
          <p:cNvGraphicFramePr/>
          <p:nvPr/>
        </p:nvGraphicFramePr>
        <p:xfrm>
          <a:off xmlns:a="http://schemas.openxmlformats.org/drawingml/2006/main" x="933450" y="2771775"/>
          <a:ext xmlns:a="http://schemas.openxmlformats.org/drawingml/2006/main" cx="13373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476875"/>
                <a:gridCol w="4752975"/>
              </a:tblGrid>
              <a:tr h="819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预期成果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拟验证内容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保留证据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 采集与报警原型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五项采样、数字校验、换算、LED / 蜂鸣器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接线图、固件、参考仪器对照记录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网关与可靠上传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串口错误、断网、满队列、重启和重复投递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原始帧、队列状态与数据库核对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与历史查询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真实值映射、时间口径、缺测和报警状态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页面截图、接口响应、查询记录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设计与研究材料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器件选型、误差分析、边界与不足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BOM、测试报告、论文和源码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3AB6A40-BB75-4139-BBC6-DCC918C8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传感器精度、持续运行时长与缓存容量等指标，在选型核实后制定并实测</a:t>
            </a:r>
          </a:p>
        </p:txBody>
      </p:sp>
    </p:spTree>
    <p:extLst>
      <p:ext uri="{BB962C8B-B14F-4D97-AF65-F5344CB8AC3E}">
        <p14:creationId xmlns:p14="http://schemas.microsoft.com/office/powerpoint/2010/main" val="69481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B8141D2-0BEC-44B3-BB1C-970855C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参考文献与资料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6ADF35-2E65-4062-9CDC-C155D8F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研究文献与标准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8490A1-8FE3-4556-B81A-3E8CB06D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用于支撑研究现状与阈值口径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3B93A7-5127-4495-AC80-807FB31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97A0BD-D0EE-45AF-880D-DE218BA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333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[1] 钱平，齐赛赛，孙逊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C12EA13-4F2E-415B-8E3D-B4C48AB4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基于 STM32 与 ESP8266 室内环境监测系统的设计[J].</a:t>
            </a:r>
          </a:p>
          <a:p xmlns:a="http://schemas.openxmlformats.org/drawingml/2006/main">
            <a:pPr algn="l">
              <a:def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无线互联科技，2023，20(9)：80–82+110.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98816C6-AE30-47AF-AACA-D247928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333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[2] Barbaro A, Chiavassa P, Fissore V I, et al.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352800-49E8-4BDE-AEE7-2EEDE6B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13335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Data Acquisition, Processing, and Aggregation in a Low-Cost IoT System for</a:t>
            </a:r>
          </a:p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Indoor Environmental Quality Monitoring[J]. Applied Sciences, 2024, 14(10): 4021.</a:t>
            </a:r>
          </a:p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DOI: 10.3390/app14104021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1146F25-2E12-44E3-8F79-BC4C0D2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38950"/>
            <a:ext cx="1333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[3] GB/T 18883—2022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614008A-21FF-44D4-BB66-D1BD6F4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00925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室内空气质量标准[S]. 国家市场监督管理总局、国家标准化管理委员会，2022.</a:t>
            </a:r>
          </a:p>
        </p:txBody>
      </p:sp>
    </p:spTree>
    <p:extLst>
      <p:ext uri="{BB962C8B-B14F-4D97-AF65-F5344CB8AC3E}">
        <p14:creationId xmlns:p14="http://schemas.microsoft.com/office/powerpoint/2010/main" val="14316062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94E78D0-4D79-4A8D-8D0D-1BD1C4A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参考文献与资料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2D4578-1F94-4303-92A5-B8DB738F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341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器件与接口资料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DB91F7-7B3D-4E20-AD4B-C203325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最终接线、时序与换算应以所购实物对应版本手册为准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B7D1B0B-2A73-48B6-965B-E9BDA64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9B11A-B5D3-400D-8268-1FB3643BFD42}"/>
              </a:ext>
            </a:extLst>
          </p:cNvPr>
          <p:cNvGraphicFramePr/>
          <p:nvPr/>
        </p:nvGraphicFramePr>
        <p:xfrm>
          <a:off xmlns:a="http://schemas.openxmlformats.org/drawingml/2006/main" x="933450" y="2781300"/>
          <a:ext xmlns:a="http://schemas.openxmlformats.org/drawingml/2006/main" cx="13373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7381875"/>
                <a:gridCol w="451485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在本课题中的用途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[4]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ST：STM32F103x8 / STM32F103xB Datasheet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ADC、USART、I²C 与资源核对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[5]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SHARP：GP2Y1010AU0F Datasheet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粉尘模拟输出、采样时序与估算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[6]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Winsen：MH-Z19B Manual / 产品页面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CO₂ 串口协议、预热与供货状态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[7]</a:t>
                      </a:r>
                    </a:p>
                  </a:txBody>
                  <a:tcPr marL="171450" marR="171450" marT="1143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ROHM：BH1750FVI Technical Note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数字光照 I²C 读取</a:t>
                      </a:r>
                    </a:p>
                  </a:txBody>
                  <a:tcPr marL="171450" marR="171450" marT="1143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9F3F85D-64DC-4869-A3C0-417A1B01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91425"/>
            <a:ext cx="1323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正文页中的 [1]–[7] 对应本表及前页；资料链接保存在相应页备注中</a:t>
            </a:r>
          </a:p>
        </p:txBody>
      </p:sp>
    </p:spTree>
    <p:extLst>
      <p:ext uri="{BB962C8B-B14F-4D97-AF65-F5344CB8AC3E}">
        <p14:creationId xmlns:p14="http://schemas.microsoft.com/office/powerpoint/2010/main" val="2115643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2026-10-17T15:15:36.2340000Z</dcterms:created>
  <dcterms:modified xsi:type="dcterms:W3CDTF">2026-10-17T15:15:36.2350000Z</dcterms:modified>
</coreProperties>
</file>